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732ebe546648a2" /><Relationship Type="http://schemas.openxmlformats.org/officeDocument/2006/relationships/extended-properties" Target="/docProps/app.xml" Id="R17bc200894e345a1" /><Relationship Type="http://schemas.openxmlformats.org/officeDocument/2006/relationships/officeDocument" Target="/ppt/presentation.xml" Id="R8f229ccf360c4cc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8bad3f3560c4691"/>
  </p:sldMasterIdLst>
  <p:notesMasterIdLst>
    <p:notesMasterId xmlns:r="http://schemas.openxmlformats.org/officeDocument/2006/relationships" r:id="R453205b1c564421b"/>
  </p:notesMasterIdLst>
  <p:sldIdLst>
    <p:sldId xmlns:r="http://schemas.openxmlformats.org/officeDocument/2006/relationships" id="256" r:id="Rf0d6cb250a47406d"/>
    <p:sldId xmlns:r="http://schemas.openxmlformats.org/officeDocument/2006/relationships" id="257" r:id="Rbc3402e02475430e"/>
    <p:sldId xmlns:r="http://schemas.openxmlformats.org/officeDocument/2006/relationships" id="258" r:id="Rfeeaa5487813424a"/>
    <p:sldId xmlns:r="http://schemas.openxmlformats.org/officeDocument/2006/relationships" id="259" r:id="Rc815d7e77cef4c4c"/>
    <p:sldId xmlns:r="http://schemas.openxmlformats.org/officeDocument/2006/relationships" id="260" r:id="R51ad4e920fee4b71"/>
    <p:sldId xmlns:r="http://schemas.openxmlformats.org/officeDocument/2006/relationships" id="261" r:id="Rbf801ae1849f43b9"/>
    <p:sldId xmlns:r="http://schemas.openxmlformats.org/officeDocument/2006/relationships" id="262" r:id="R11e243054ae14a78"/>
    <p:sldId xmlns:r="http://schemas.openxmlformats.org/officeDocument/2006/relationships" id="263" r:id="Red4ec9789bfe4cb3"/>
    <p:sldId xmlns:r="http://schemas.openxmlformats.org/officeDocument/2006/relationships" id="264" r:id="R3a6fffcf9f234698"/>
    <p:sldId xmlns:r="http://schemas.openxmlformats.org/officeDocument/2006/relationships" id="265" r:id="R55c5dd13362b4280"/>
    <p:sldId xmlns:r="http://schemas.openxmlformats.org/officeDocument/2006/relationships" id="266" r:id="Rac643049e6be474b"/>
    <p:sldId xmlns:r="http://schemas.openxmlformats.org/officeDocument/2006/relationships" id="267" r:id="R176ef8f512ed4033"/>
    <p:sldId xmlns:r="http://schemas.openxmlformats.org/officeDocument/2006/relationships" id="268" r:id="Rf5d569a8bb7d470d"/>
    <p:sldId xmlns:r="http://schemas.openxmlformats.org/officeDocument/2006/relationships" id="269" r:id="R58f07283c4bd467b"/>
    <p:sldId xmlns:r="http://schemas.openxmlformats.org/officeDocument/2006/relationships" id="270" r:id="Ref80bdb9f6b74d6c"/>
    <p:sldId xmlns:r="http://schemas.openxmlformats.org/officeDocument/2006/relationships" id="271" r:id="R25ec0341ef9b4651"/>
    <p:sldId xmlns:r="http://schemas.openxmlformats.org/officeDocument/2006/relationships" id="272" r:id="R3e5b96fe9d3a4ad7"/>
    <p:sldId xmlns:r="http://schemas.openxmlformats.org/officeDocument/2006/relationships" id="273" r:id="R4755ed578428497d"/>
    <p:sldId xmlns:r="http://schemas.openxmlformats.org/officeDocument/2006/relationships" id="274" r:id="R2839446eea17432e"/>
  </p:sldIdLst>
  <p:sldSz cx="12191675" cy="6858000"/>
  <p:notesSz cx="6858000" cy="9144000"/>
  <p:embeddedFontLst>
    <p:embeddedFont>
      <p:font typeface="Play"/>
      <p:regular xmlns:r="http://schemas.openxmlformats.org/officeDocument/2006/relationships" r:id="Re506f0fce5f04ee5"/>
      <p:bold xmlns:r="http://schemas.openxmlformats.org/officeDocument/2006/relationships" r:id="Re4bfc267baed427f"/>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3f2a9b8a914a03" /><Relationship Type="http://schemas.openxmlformats.org/officeDocument/2006/relationships/slideMaster" Target="/ppt/slideMasters/slideMaster1.xml" Id="Rc8bad3f3560c4691" /><Relationship Type="http://schemas.openxmlformats.org/officeDocument/2006/relationships/notesMaster" Target="/ppt/notesMasters/notesMaster1.xml" Id="R453205b1c564421b" /><Relationship Type="http://schemas.openxmlformats.org/officeDocument/2006/relationships/presProps" Target="/ppt/presProps.xml" Id="Rafe4d1a479854a21" /><Relationship Type="http://schemas.openxmlformats.org/officeDocument/2006/relationships/tableStyles" Target="/ppt/tableStyles.xml" Id="R011fb1f7cb824d30" /><Relationship Type="http://schemas.openxmlformats.org/officeDocument/2006/relationships/font" Target="/ppt/fonts/font.dat" Id="Re506f0fce5f04ee5" /><Relationship Type="http://schemas.openxmlformats.org/officeDocument/2006/relationships/font" Target="/ppt/fonts/font2.dat" Id="Re4bfc267baed427f" /><Relationship Type="http://schemas.openxmlformats.org/officeDocument/2006/relationships/slide" Target="/ppt/slides/slide1.xml" Id="Rf0d6cb250a47406d" /><Relationship Type="http://schemas.openxmlformats.org/officeDocument/2006/relationships/slide" Target="/ppt/slides/slide2.xml" Id="Rbc3402e02475430e" /><Relationship Type="http://schemas.openxmlformats.org/officeDocument/2006/relationships/slide" Target="/ppt/slides/slide3.xml" Id="Rfeeaa5487813424a" /><Relationship Type="http://schemas.openxmlformats.org/officeDocument/2006/relationships/slide" Target="/ppt/slides/slide4.xml" Id="Rc815d7e77cef4c4c" /><Relationship Type="http://schemas.openxmlformats.org/officeDocument/2006/relationships/slide" Target="/ppt/slides/slide5.xml" Id="R51ad4e920fee4b71" /><Relationship Type="http://schemas.openxmlformats.org/officeDocument/2006/relationships/slide" Target="/ppt/slides/slide6.xml" Id="Rbf801ae1849f43b9" /><Relationship Type="http://schemas.openxmlformats.org/officeDocument/2006/relationships/slide" Target="/ppt/slides/slide7.xml" Id="R11e243054ae14a78" /><Relationship Type="http://schemas.openxmlformats.org/officeDocument/2006/relationships/slide" Target="/ppt/slides/slide8.xml" Id="Red4ec9789bfe4cb3" /><Relationship Type="http://schemas.openxmlformats.org/officeDocument/2006/relationships/slide" Target="/ppt/slides/slide9.xml" Id="R3a6fffcf9f234698" /><Relationship Type="http://schemas.openxmlformats.org/officeDocument/2006/relationships/slide" Target="/ppt/slides/slide10.xml" Id="R55c5dd13362b4280" /><Relationship Type="http://schemas.openxmlformats.org/officeDocument/2006/relationships/slide" Target="/ppt/slides/slide11.xml" Id="Rac643049e6be474b" /><Relationship Type="http://schemas.openxmlformats.org/officeDocument/2006/relationships/slide" Target="/ppt/slides/slide12.xml" Id="R176ef8f512ed4033" /><Relationship Type="http://schemas.openxmlformats.org/officeDocument/2006/relationships/slide" Target="/ppt/slides/slide13.xml" Id="Rf5d569a8bb7d470d" /><Relationship Type="http://schemas.openxmlformats.org/officeDocument/2006/relationships/slide" Target="/ppt/slides/slide14.xml" Id="R58f07283c4bd467b" /><Relationship Type="http://schemas.openxmlformats.org/officeDocument/2006/relationships/slide" Target="/ppt/slides/slide15.xml" Id="Ref80bdb9f6b74d6c" /><Relationship Type="http://schemas.openxmlformats.org/officeDocument/2006/relationships/slide" Target="/ppt/slides/slide16.xml" Id="R25ec0341ef9b4651" /><Relationship Type="http://schemas.openxmlformats.org/officeDocument/2006/relationships/slide" Target="/ppt/slides/slide17.xml" Id="R3e5b96fe9d3a4ad7" /><Relationship Type="http://schemas.openxmlformats.org/officeDocument/2006/relationships/slide" Target="/ppt/slides/slide18.xml" Id="R4755ed578428497d" /><Relationship Type="http://schemas.openxmlformats.org/officeDocument/2006/relationships/slide" Target="/ppt/slides/slide19.xml" Id="R2839446eea1743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13ae0ca50b42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972e606f7e4a58" /><Relationship Type="http://schemas.openxmlformats.org/officeDocument/2006/relationships/notesMaster" Target="/ppt/notesMasters/notesMaster1.xml" Id="R2173de3cd52a47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d95f3f82064e6d" /><Relationship Type="http://schemas.openxmlformats.org/officeDocument/2006/relationships/notesMaster" Target="/ppt/notesMasters/notesMaster1.xml" Id="R9cded43ed4ce43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c0ed9860be4c64" /><Relationship Type="http://schemas.openxmlformats.org/officeDocument/2006/relationships/notesMaster" Target="/ppt/notesMasters/notesMaster1.xml" Id="R9b86ba88112349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10f63c5c444a94" /><Relationship Type="http://schemas.openxmlformats.org/officeDocument/2006/relationships/notesMaster" Target="/ppt/notesMasters/notesMaster1.xml" Id="Rcdbeb4dd8a0541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4f0a7120594cd2" /><Relationship Type="http://schemas.openxmlformats.org/officeDocument/2006/relationships/notesMaster" Target="/ppt/notesMasters/notesMaster1.xml" Id="R4662fd5a2fea40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180b52f5d54ca4" /><Relationship Type="http://schemas.openxmlformats.org/officeDocument/2006/relationships/notesMaster" Target="/ppt/notesMasters/notesMaster1.xml" Id="Rc1851f1a325641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ad6162165d43bb" /><Relationship Type="http://schemas.openxmlformats.org/officeDocument/2006/relationships/notesMaster" Target="/ppt/notesMasters/notesMaster1.xml" Id="R2e9533c825cb44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1b5d8b70c249bd" /><Relationship Type="http://schemas.openxmlformats.org/officeDocument/2006/relationships/notesMaster" Target="/ppt/notesMasters/notesMaster1.xml" Id="Rb58630010fa240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1aab0df3634072" /><Relationship Type="http://schemas.openxmlformats.org/officeDocument/2006/relationships/notesMaster" Target="/ppt/notesMasters/notesMaster1.xml" Id="Ra1520b53b15642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be8e69f61e4414" /><Relationship Type="http://schemas.openxmlformats.org/officeDocument/2006/relationships/notesMaster" Target="/ppt/notesMasters/notesMaster1.xml" Id="R3cac9caa347d4f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19365049894874" /><Relationship Type="http://schemas.openxmlformats.org/officeDocument/2006/relationships/notesMaster" Target="/ppt/notesMasters/notesMaster1.xml" Id="R7ff3d2dd658d4f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fe90fa8e314669" /><Relationship Type="http://schemas.openxmlformats.org/officeDocument/2006/relationships/notesMaster" Target="/ppt/notesMasters/notesMaster1.xml" Id="R484cc0f8379d4c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a4e225f1804510" /><Relationship Type="http://schemas.openxmlformats.org/officeDocument/2006/relationships/notesMaster" Target="/ppt/notesMasters/notesMaster1.xml" Id="R175f7d36956c4f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ffc6e5d5c94cb5" /><Relationship Type="http://schemas.openxmlformats.org/officeDocument/2006/relationships/notesMaster" Target="/ppt/notesMasters/notesMaster1.xml" Id="Ree42e2815d7c46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999804ccd640b7" /><Relationship Type="http://schemas.openxmlformats.org/officeDocument/2006/relationships/notesMaster" Target="/ppt/notesMasters/notesMaster1.xml" Id="R58d1606e403244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0c98d25f5a4067" /><Relationship Type="http://schemas.openxmlformats.org/officeDocument/2006/relationships/notesMaster" Target="/ppt/notesMasters/notesMaster1.xml" Id="Rd223277a8d804f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3bc81518234614" /><Relationship Type="http://schemas.openxmlformats.org/officeDocument/2006/relationships/notesMaster" Target="/ppt/notesMasters/notesMaster1.xml" Id="R2e4bb7162fbd40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cb45f7cd8049f5" /><Relationship Type="http://schemas.openxmlformats.org/officeDocument/2006/relationships/notesMaster" Target="/ppt/notesMasters/notesMaster1.xml" Id="R13bcfe5107b540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0345625f234cfb" /><Relationship Type="http://schemas.openxmlformats.org/officeDocument/2006/relationships/notesMaster" Target="/ppt/notesMasters/notesMaster1.xml" Id="R43575b4ad13b49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PRIMARY TEACHING MOMENTS</a:t>
            </a:r>
          </a:p>
          <a:p xmlns:a="http://schemas.openxmlformats.org/drawingml/2006/main">
            <a:pPr marL="457200" marR="0" indent="-228600" algn="l">
              <a:lnSpc>
                <a:spcPct val="100000"/>
              </a:lnSpc>
              <a:spcBef>
                <a:spcPts val="0"/>
              </a:spcBef>
              <a:spcAft>
                <a:spcPts val="0"/>
              </a:spcAft>
              <a:buSzPts val="1400"/>
              <a:buNone/>
            </a:pPr>
            <a:r>
              <a:t>Unit 3, Week 15</a:t>
            </a:r>
          </a:p>
          <a:p xmlns:a="http://schemas.openxmlformats.org/drawingml/2006/main">
            <a:pPr marL="457200" marR="0" indent="-228600" algn="l">
              <a:lnSpc>
                <a:spcPct val="100000"/>
              </a:lnSpc>
              <a:spcBef>
                <a:spcPts val="0"/>
              </a:spcBef>
              <a:spcAft>
                <a:spcPts val="0"/>
              </a:spcAft>
              <a:buSzPts val="1400"/>
              <a:buNone/>
            </a:pPr>
            <a:r>
              <a:t>Unit 4, Week 17</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REVISIT / REFERENCE</a:t>
            </a:r>
          </a:p>
          <a:p xmlns:a="http://schemas.openxmlformats.org/drawingml/2006/main">
            <a:pPr marL="457200" marR="0" indent="-228600" algn="l">
              <a:lnSpc>
                <a:spcPct val="100000"/>
              </a:lnSpc>
              <a:spcBef>
                <a:spcPts val="0"/>
              </a:spcBef>
              <a:spcAft>
                <a:spcPts val="0"/>
              </a:spcAft>
              <a:buSzPts val="1400"/>
              <a:buNone/>
            </a:pPr>
            <a:r>
              <a:t>Unit 3, Week 9 as needed for data-quality concepts</a:t>
            </a:r>
          </a:p>
          <a:p xmlns:a="http://schemas.openxmlformats.org/drawingml/2006/main">
            <a:pPr marL="457200" marR="0" indent="-228600" algn="l">
              <a:lnSpc>
                <a:spcPct val="100000"/>
              </a:lnSpc>
              <a:spcBef>
                <a:spcPts val="0"/>
              </a:spcBef>
              <a:spcAft>
                <a:spcPts val="0"/>
              </a:spcAft>
              <a:buSzPts val="1400"/>
              <a:buNone/>
            </a:pPr>
            <a:r>
              <a:t>Unit 3, Week 16 for analysis readiness</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WEEK 9 REVISIT MATERIALS</a:t>
            </a:r>
          </a:p>
          <a:p xmlns:a="http://schemas.openxmlformats.org/drawingml/2006/main">
            <a:pPr marL="457200" marR="0" indent="-228600" algn="l">
              <a:lnSpc>
                <a:spcPct val="100000"/>
              </a:lnSpc>
              <a:spcBef>
                <a:spcPts val="0"/>
              </a:spcBef>
              <a:spcAft>
                <a:spcPts val="0"/>
              </a:spcAft>
              <a:buSzPts val="1400"/>
              <a:buNone/>
            </a:pPr>
            <a:r>
              <a:t>- Unit 3 Student Handouts 9-10</a:t>
            </a:r>
          </a:p>
          <a:p xmlns:a="http://schemas.openxmlformats.org/drawingml/2006/main">
            <a:pPr marL="457200" marR="0" indent="-228600" algn="l">
              <a:lnSpc>
                <a:spcPct val="100000"/>
              </a:lnSpc>
              <a:spcBef>
                <a:spcPts val="0"/>
              </a:spcBef>
              <a:spcAft>
                <a:spcPts val="0"/>
              </a:spcAft>
              <a:buSzPts val="1400"/>
              <a:buNone/>
            </a:pPr>
            <a:r>
              <a:t>- Unit 3 Appendix J is optional / teacher reference</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REQUIRED WEEK 15 MATERIALS</a:t>
            </a:r>
          </a:p>
          <a:p xmlns:a="http://schemas.openxmlformats.org/drawingml/2006/main">
            <a:pPr marL="457200" marR="0" indent="-228600" algn="l">
              <a:lnSpc>
                <a:spcPct val="100000"/>
              </a:lnSpc>
              <a:spcBef>
                <a:spcPts val="0"/>
              </a:spcBef>
              <a:spcAft>
                <a:spcPts val="0"/>
              </a:spcAft>
              <a:buSzPts val="1400"/>
              <a:buNone/>
            </a:pPr>
            <a:r>
              <a:t>- Unit 3 Student Handout 17</a:t>
            </a:r>
          </a:p>
          <a:p xmlns:a="http://schemas.openxmlformats.org/drawingml/2006/main">
            <a:pPr marL="457200" marR="0" indent="-228600" algn="l">
              <a:lnSpc>
                <a:spcPct val="100000"/>
              </a:lnSpc>
              <a:spcBef>
                <a:spcPts val="0"/>
              </a:spcBef>
              <a:spcAft>
                <a:spcPts val="0"/>
              </a:spcAft>
              <a:buSzPts val="1400"/>
              <a:buNone/>
            </a:pPr>
            <a:r>
              <a:t>- Unit 3 Appendices Q-R</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REQUIRED WEEK 16 MATERIALS</a:t>
            </a:r>
          </a:p>
          <a:p xmlns:a="http://schemas.openxmlformats.org/drawingml/2006/main">
            <a:pPr marL="457200" marR="0" indent="-228600" algn="l">
              <a:lnSpc>
                <a:spcPct val="100000"/>
              </a:lnSpc>
              <a:spcBef>
                <a:spcPts val="0"/>
              </a:spcBef>
              <a:spcAft>
                <a:spcPts val="0"/>
              </a:spcAft>
              <a:buSzPts val="1400"/>
              <a:buNone/>
            </a:pPr>
            <a:r>
              <a:t>- Unit 3 Student Handouts 18-19</a:t>
            </a:r>
          </a:p>
          <a:p xmlns:a="http://schemas.openxmlformats.org/drawingml/2006/main">
            <a:pPr marL="457200" marR="0" indent="-228600" algn="l">
              <a:lnSpc>
                <a:spcPct val="100000"/>
              </a:lnSpc>
              <a:spcBef>
                <a:spcPts val="0"/>
              </a:spcBef>
              <a:spcAft>
                <a:spcPts val="0"/>
              </a:spcAft>
              <a:buSzPts val="1400"/>
              <a:buNone/>
            </a:pPr>
            <a:r>
              <a:t>- Unit 3 Appendices S-U are optional / teacher reference</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REQUIRED WEEK 17 MATERIALS</a:t>
            </a:r>
          </a:p>
          <a:p xmlns:a="http://schemas.openxmlformats.org/drawingml/2006/main">
            <a:pPr marL="457200" marR="0" indent="-228600" algn="l">
              <a:lnSpc>
                <a:spcPct val="100000"/>
              </a:lnSpc>
              <a:spcBef>
                <a:spcPts val="0"/>
              </a:spcBef>
              <a:spcAft>
                <a:spcPts val="0"/>
              </a:spcAft>
              <a:buSzPts val="1400"/>
              <a:buNone/>
            </a:pPr>
            <a:r>
              <a:t>- Unit 4 Student Handouts 1-4</a:t>
            </a:r>
          </a:p>
          <a:p xmlns:a="http://schemas.openxmlformats.org/drawingml/2006/main">
            <a:pPr marL="457200" marR="0" indent="-228600" algn="l">
              <a:lnSpc>
                <a:spcPct val="100000"/>
              </a:lnSpc>
              <a:spcBef>
                <a:spcPts val="0"/>
              </a:spcBef>
              <a:spcAft>
                <a:spcPts val="0"/>
              </a:spcAft>
              <a:buSzPts val="1400"/>
              <a:buNone/>
            </a:pPr>
            <a:r>
              <a:t>- Unit 4 Appendices A-C</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Reference concepts in Week 9 only when useful, teach the deck in Week 15, revisit it in Week 16, and teach it again at the Unit 4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Frame this lesson as a bridge between Unit 3 data collection and Unit 4 analysis. Do not let students jump directly into graphing if their data are not understandable. Have students open or think of their current data location and predict one issue they may need to fix today.</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1: Raw Data Inventory and Unit 4 Student Handout 2: Clean Data Set Builder. This slide introduces the target for Unit 4 Week 17: locate raw data, preserve it, create a clean working copy, flag questionable data, and make labels/units consistent.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Emphasize that the issue is not whether students are smart enough to analyze data. The issue is whether the evidence has been protected and labeled well enough to analyze honestly. Ask students to circle which listed issue has already appeared in their project.</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C: Common Data Organization Problems. This slide also supports Unit 3 Student Handout 17: Data Audit and Organization Checklist if you are using the deck before Unit 4 officially begins.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Give students 8–12 minutes to list all evidence locations. For students with physical notebooks, have them mark pages with sticky tabs. For digital files, require exact file names, folder paths, or links. Push students to include evidence beyond spreadsheets: photos, videos, mentor emails, prototype notes, screenshots, and sensor files.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directly with Unit 4 Student Handout 1: Raw Data Inventory. This activity matches Unit 4 Week 17 Day 1. Optional bridge: Unit 3 Student Handout 17: Data Audit and Organization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Raw data are the evidence trail. Students should understand that raw data can be messy and still valuable. Ask students to identify one example of raw data from their own project and where it is stored.</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A: Raw Data vs. Clean Data. This slide helps students preserve original records before completing Unit 4 Student Handout 2: Clean Data Set 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Stress that clean data are a copy, not a replacement. Cleaning is about transparency and structure, not making results look better. Ask students to write a one-sentence definition of clean data in their own words.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A: Raw Data vs. Clean Data and Unit 4 Student Handout 2: Clean Data Set Builder. This slide prepares students to create an analysis-ready working copy without overwriting raw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is the central process slide. Walk through the pipeline slowly and make clear that analysis begins only after raw data have been preserved and a clean working copy exists. Have students identify which stage they are currently in.</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B: Data Cleaning Rules. Also supports Unit 4 Student Handout 3: Data Cleaning Decision Log because students must document what changes between raw data and clean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Connect this slide to the Clean Data Set Builder handout. If students are using photos or qualitative data, translate these fields: image number, condition, observation, code/category, and notes. Have students add any missing columns to their current data table.</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2: Clean Data Set Builder. This slide also supports Unit 4 Appendix C: Common Data Organization Problems by helping students catch missing labels, units, trial numbers, and notes columns.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slide should feel procedural and non-negotiable. Students should leave knowing that the raw data file stays untouched. Have students create a duplicate of their current spreadsheet or folder before making any changes.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B: Data Cleaning Rules and Unit 4 Student Handout 3: Data Cleaning Decision Log. This slide reinforces the rule that raw data must be preserved before cleaning begins.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is a quick visible practice before students audit their own data. Ask students to identify issues first, not solve immediately. In pairs, students should list at least five problems and decide whether each is a labeling issue, missing information, flagging issue, or possible cleaning decision.</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3: Data Cleaning Decision Log and Unit 4 Appendix C: Common Data Organization Problems. This activity matches Unit 4 Week 17 Day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slide matches the Data Cleaning Decision Log. Emphasize that cleaning decisions are not a sign of weakness; they are how researchers maintain transparency. Have students add one real cleaning decision from their own project to the decision log.</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directly with Unit 4 Student Handout 3: Data Cleaning Decision Log. Also reference Unit 4 Appendix B: Data Cleaning Rules when students are unsure whether a change is appropriate.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Reinforce integrity. Flagging is not the same as excluding. Exclusion may sometimes be justified, but it must be documented and explained. Have students identify one data point that may need a flag and write the reason in a notes column.</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3: Data Cleaning Decision Log and Unit 4 Appendix B: Data Cleaning Rules. This also prepares students for Unit 4 Student Handout 11: Error, Uncertainty, and Limitations Review later in Unit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Help students understand that missing data are not a reason to fake or ignore gaps. Missing data affect the strength of conclusions. Students should identify one gap in their data and decide whether it can still be collected safely and honestly or must be reported as a limitation.</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4: Week 17 Data Audit and Unit 4 Appendix B: Data Cleaning Rules. This slide also connects to Unit 3 Student Handout 18: Unit 3 Readiness for Analysis Review when students are deciding whether they are ready for Unit 4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slide is simple but high value. File organization saves time during report writing and presentation preparation. Give students time to create or clean their project folder structure.</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3 Appendix Q: File and Data Organization Standards. Also supports Unit 4 Student Handout 1: Raw Data Inventory because students should be able to name where raw and clean files are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activity is the main work-time slide. Circulate and ask students to show you raw data, clean data, and one documented cleaning decision. Students should share the clean table with a partner and ask, “Could you understand this without me?”</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2: Clean Data Set Builder and Unit 4 Student Handout 3: Data Cleaning Decision Log. This activity matches Unit 4 Week 17 Days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Use these as rapid conference questions. The checkpoint is not about final analysis; it is about readiness. Students should rehearse answering these questions with a partner before the teacher checks.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4: Week 17 Data Audit. Also connects to Unit 3 Student Handout 18: Unit 3 Readiness for Analysis Review if students need an additional readiness check before moving into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Use this as a final self-check before students move into Deck 10. Have students choose the top two risks in their own data and fix or document them before analysis begins.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C: Common Data Organization Problems and Unit 4 Student Handout 4: Week 17 Data Audit. Students should use this slide to identify problems that must be resolved before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Collect a screenshot, link, or handout depending on your classroom system. Students should complete the checklist and identify their first analysis move for the next deck. Use responses to sort students into ready for analysis, minor cleanup, major cleanup, or conference-needed groups.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4: Week 17 Data Audit and Unit 3 Student Handout 18: Unit 3 Readiness for Analysis Review. Students should turn in or show Unit 4 Student Handout 1: Raw Data Inventory, Unit 4 Student Handout 2: Clean Data Set Builder, and Unit 4 Student Handout 3: Data Cleaning Decision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End by making the transition explicit. Students should not begin analysis until data organization is complete. Emphasize that the next deck asks students to choose calculations, comparisons, and visualizations based on the kind of data they have.</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after students complete Unit 4 Student Handout 4: Week 17 Data Audit. Next deck connection: Deck 10: Choosing the Right Data Analysis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e80e26a7b74ccd"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8ccd7cd0374698" /><Relationship Type="http://schemas.openxmlformats.org/officeDocument/2006/relationships/slideLayout" Target="/ppt/slideLayouts/slideLayout1.xml" Id="Rd3c4bf6980d4493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3c4bf6980d4493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ff22f1d4804995" /><Relationship Type="http://schemas.openxmlformats.org/officeDocument/2006/relationships/image" Target="/ppt/media/image.png" Id="R80ea726ece9e4b18" /><Relationship Type="http://schemas.openxmlformats.org/officeDocument/2006/relationships/notesSlide" Target="/ppt/notesSlides/notesSlide1.xml" Id="R815a509cc04747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c09d6f55d7496b" /><Relationship Type="http://schemas.openxmlformats.org/officeDocument/2006/relationships/notesSlide" Target="/ppt/notesSlides/notesSlide2.xml" Id="R5d28299c5ccb45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92cc8e8c614f4d" /><Relationship Type="http://schemas.openxmlformats.org/officeDocument/2006/relationships/notesSlide" Target="/ppt/notesSlides/notesSlide3.xml" Id="R0e6a7d5ca0e649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d6deef99ee4b7a" /><Relationship Type="http://schemas.openxmlformats.org/officeDocument/2006/relationships/notesSlide" Target="/ppt/notesSlides/notesSlide4.xml" Id="R1a64aff3b9f043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8986b473094f66" /><Relationship Type="http://schemas.openxmlformats.org/officeDocument/2006/relationships/notesSlide" Target="/ppt/notesSlides/notesSlide5.xml" Id="R1c5cca5d876f41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a74e774ffb4cb6" /><Relationship Type="http://schemas.openxmlformats.org/officeDocument/2006/relationships/notesSlide" Target="/ppt/notesSlides/notesSlide6.xml" Id="Rbb6e3bff86a640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79d76d046b497c" /><Relationship Type="http://schemas.openxmlformats.org/officeDocument/2006/relationships/notesSlide" Target="/ppt/notesSlides/notesSlide7.xml" Id="R534802ef5b1449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f7ab9490ff4b40" /><Relationship Type="http://schemas.openxmlformats.org/officeDocument/2006/relationships/notesSlide" Target="/ppt/notesSlides/notesSlide8.xml" Id="R4566818638ac4d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72372d51fb4b08" /><Relationship Type="http://schemas.openxmlformats.org/officeDocument/2006/relationships/notesSlide" Target="/ppt/notesSlides/notesSlide9.xml" Id="Re044db014a6e44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94591864fc94cf3" /><Relationship Type="http://schemas.openxmlformats.org/officeDocument/2006/relationships/notesSlide" Target="/ppt/notesSlides/notesSlide10.xml" Id="R77f6152c905441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86c4ca44514fdb" /><Relationship Type="http://schemas.openxmlformats.org/officeDocument/2006/relationships/notesSlide" Target="/ppt/notesSlides/notesSlide11.xml" Id="R2703e84056f645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9c861b18cd41fb" /><Relationship Type="http://schemas.openxmlformats.org/officeDocument/2006/relationships/notesSlide" Target="/ppt/notesSlides/notesSlide12.xml" Id="Rcc9e08564b6449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2a71068f794dd2" /><Relationship Type="http://schemas.openxmlformats.org/officeDocument/2006/relationships/notesSlide" Target="/ppt/notesSlides/notesSlide13.xml" Id="Rb1ebfb4f89fc43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dd0d1bd2974eff" /><Relationship Type="http://schemas.openxmlformats.org/officeDocument/2006/relationships/notesSlide" Target="/ppt/notesSlides/notesSlide14.xml" Id="Rfcec6d8859bc4e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92327c63c04418" /><Relationship Type="http://schemas.openxmlformats.org/officeDocument/2006/relationships/notesSlide" Target="/ppt/notesSlides/notesSlide15.xml" Id="R8151e867f56d47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8d475cb7b324c87" /><Relationship Type="http://schemas.openxmlformats.org/officeDocument/2006/relationships/notesSlide" Target="/ppt/notesSlides/notesSlide16.xml" Id="Racd439114e294a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c5a3cd237b4c9f" /><Relationship Type="http://schemas.openxmlformats.org/officeDocument/2006/relationships/notesSlide" Target="/ppt/notesSlides/notesSlide17.xml" Id="R11b21a31b2014a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844bbff00a7401c" /><Relationship Type="http://schemas.openxmlformats.org/officeDocument/2006/relationships/notesSlide" Target="/ppt/notesSlides/notesSlide18.xml" Id="Redf4f9733f6743e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975c009ea6349e6" /><Relationship Type="http://schemas.openxmlformats.org/officeDocument/2006/relationships/image" Target="/ppt/media/image.png" Id="R8774106ba9b644e5" /><Relationship Type="http://schemas.openxmlformats.org/officeDocument/2006/relationships/notesSlide" Target="/ppt/notesSlides/notesSlide19.xml" Id="R32e598a9e66d4e85"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6" name="Google Shape;16;p3"/>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27" name="Google Shape;17;p3"/>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pic>
        <p:nvPicPr>
          <p:cNvPr id="28" name="Google Shape;18;p3"/>
          <p:cNvPicPr>
            <a:picLocks xmlns:a="http://schemas.openxmlformats.org/drawingml/2006/main" noChangeAspect="1"/>
          </p:cNvPicPr>
          <p:nvPr/>
        </p:nvPicPr>
        <p:blipFill rotWithShape="1">
          <a:blip xmlns:r="http://schemas.openxmlformats.org/officeDocument/2006/relationships" xmlns:a="http://schemas.openxmlformats.org/drawingml/2006/main" r:embed="R80ea726ece9e4b18">
            <a:alphaModFix/>
          </a:blip>
          <a:srcRect xmlns:a="http://schemas.openxmlformats.org/drawingml/2006/main" l="0" t="0" r="0" b="0"/>
          <a:stretch xmlns:a="http://schemas.openxmlformats.org/drawingml/2006/main"/>
        </p:blipFill>
        <p:spPr>
          <a:xfrm xmlns:a="http://schemas.openxmlformats.org/drawingml/2006/main">
            <a:off x="2194560" y="438912"/>
            <a:ext cx="7772400" cy="3886200"/>
          </a:xfrm>
          <a:prstGeom xmlns:a="http://schemas.openxmlformats.org/drawingml/2006/main" prst="rect">
            <a:avLst/>
          </a:prstGeom>
          <a:ln xmlns:a="http://schemas.openxmlformats.org/drawingml/2006/main">
            <a:noFill/>
          </a:ln>
        </p:spPr>
      </p:pic>
      <p:sp>
        <p:nvSpPr>
          <p:cNvPr id="19" name="Google Shape;19;p3">
            <a:extLst xmlns:a="http://schemas.openxmlformats.org/drawingml/2006/main">
              <a:ext uri="{FF2B5EF4-FFF2-40B4-BE49-F238E27FC236}">
                <a16:creationId xmlns:a16="http://schemas.microsoft.com/office/drawing/2014/main" id="{489418A5-0C92-4B58-9A19-1CFEC3574D16}"/>
              </a:ext>
            </a:extLst>
          </p:cNvPr>
          <p:cNvSpPr>
            <a:spLocks xmlns:a="http://schemas.openxmlformats.org/drawingml/2006/main" noGrp="1"/>
          </p:cNvSpPr>
          <p:nvPr/>
        </p:nvSpPr>
        <p:spPr>
          <a:xfrm xmlns:a="http://schemas.openxmlformats.org/drawingml/2006/main">
            <a:off x="777240" y="4983480"/>
            <a:ext cx="10652760" cy="804672"/>
          </a:xfrm>
          <a:prstGeom xmlns:a="http://schemas.openxmlformats.org/drawingml/2006/main" prst="rect">
            <a:avLst/>
          </a:prstGeom>
          <a:solidFill xmlns:a="http://schemas.openxmlformats.org/drawingml/2006/main">
            <a:srgbClr val="000000">
              <a:alpha val="0"/>
            </a:srgbClr>
          </a:solidFill>
          <a:ln xmlns:a="http://schemas.openxmlformats.org/drawingml/2006/main" w="15225" cmpd="sng">
            <a:solidFill>
              <a:srgbClr val="B8B8B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 name="Google Shape;20;p3">
            <a:extLst xmlns:a="http://schemas.openxmlformats.org/drawingml/2006/main">
              <a:ext uri="{FF2B5EF4-FFF2-40B4-BE49-F238E27FC236}">
                <a16:creationId xmlns:a16="http://schemas.microsoft.com/office/drawing/2014/main" id="{72107D33-AD27-46B4-BA43-6468BCE90B82}"/>
              </a:ext>
            </a:extLst>
          </p:cNvPr>
          <p:cNvSpPr>
            <a:spLocks xmlns:a="http://schemas.openxmlformats.org/drawingml/2006/main" noGrp="1"/>
          </p:cNvSpPr>
          <p:nvPr/>
        </p:nvSpPr>
        <p:spPr>
          <a:xfrm xmlns:a="http://schemas.openxmlformats.org/drawingml/2006/main">
            <a:off x="822960" y="5102352"/>
            <a:ext cx="10515600" cy="5852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DATA ORGANIZATION: RAW DATA VS. CLEAN DATA</a:t>
            </a:r>
          </a:p>
        </p:txBody>
      </p:sp>
      <p:sp>
        <p:nvSpPr>
          <p:cNvPr id="21" name="Google Shape;21;p3">
            <a:extLst xmlns:a="http://schemas.openxmlformats.org/drawingml/2006/main">
              <a:ext uri="{FF2B5EF4-FFF2-40B4-BE49-F238E27FC236}">
                <a16:creationId xmlns:a16="http://schemas.microsoft.com/office/drawing/2014/main" id="{54973B69-7478-4525-B66E-D90B0950C278}"/>
              </a:ext>
            </a:extLst>
          </p:cNvPr>
          <p:cNvSpPr>
            <a:spLocks xmlns:a="http://schemas.openxmlformats.org/drawingml/2006/main" noGrp="1"/>
          </p:cNvSpPr>
          <p:nvPr/>
        </p:nvSpPr>
        <p:spPr>
          <a:xfrm xmlns:a="http://schemas.openxmlformats.org/drawingml/2006/main">
            <a:off x="822960" y="5870448"/>
            <a:ext cx="10515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1300"/>
              <a:buFont typeface="Arial"/>
              <a:buNone/>
            </a:pPr>
            <a:r>
              <a:rPr sz="1300" b="0" i="0" u="none" cap="none">
                <a:solidFill>
                  <a:srgbClr val="B8B8B8"/>
                </a:solidFill>
                <a:latin typeface="Arial"/>
                <a:ea typeface="Arial"/>
                <a:cs typeface="Arial"/>
              </a:rPr>
              <a:t>STARLAB Deck 09  •  Unit 3–4 Core Instruction</a:t>
            </a:r>
          </a:p>
        </p:txBody>
      </p:sp>
    </p:spTree>
    <p:extLst>
      <p:ext uri="{BB962C8B-B14F-4D97-AF65-F5344CB8AC3E}">
        <p14:creationId xmlns:p14="http://schemas.microsoft.com/office/powerpoint/2010/main" val="201502014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55" name="Google Shape;27;p4"/>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56" name="Google Shape;28;p4"/>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29" name="Google Shape;29;p4">
            <a:extLst xmlns:a="http://schemas.openxmlformats.org/drawingml/2006/main">
              <a:ext uri="{FF2B5EF4-FFF2-40B4-BE49-F238E27FC236}">
                <a16:creationId xmlns:a16="http://schemas.microsoft.com/office/drawing/2014/main" id="{DF8C16FD-62B1-46DF-8B3A-994842A65EA6}"/>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0" name="Google Shape;30;p4">
            <a:extLst xmlns:a="http://schemas.openxmlformats.org/drawingml/2006/main">
              <a:ext uri="{FF2B5EF4-FFF2-40B4-BE49-F238E27FC236}">
                <a16:creationId xmlns:a16="http://schemas.microsoft.com/office/drawing/2014/main" id="{80F4B5E9-92C3-4AF8-A294-344B6A6D5C5D}"/>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1" name="Google Shape;31;p4">
            <a:extLst xmlns:a="http://schemas.openxmlformats.org/drawingml/2006/main">
              <a:ext uri="{FF2B5EF4-FFF2-40B4-BE49-F238E27FC236}">
                <a16:creationId xmlns:a16="http://schemas.microsoft.com/office/drawing/2014/main" id="{8562DF77-E357-4344-8253-B54DE7D2E32E}"/>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2" name="Google Shape;32;p4">
            <a:extLst xmlns:a="http://schemas.openxmlformats.org/drawingml/2006/main">
              <a:ext uri="{FF2B5EF4-FFF2-40B4-BE49-F238E27FC236}">
                <a16:creationId xmlns:a16="http://schemas.microsoft.com/office/drawing/2014/main" id="{94D071D3-79C4-4954-BD09-B497E6CE4B30}"/>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What this deck prepares you to do</a:t>
            </a:r>
          </a:p>
        </p:txBody>
      </p:sp>
      <p:cxnSp>
        <p:nvCxnSpPr>
          <p:cNvPr id="61" name="Google Shape;33;p4"/>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4" name="Google Shape;34;p4">
            <a:extLst xmlns:a="http://schemas.openxmlformats.org/drawingml/2006/main">
              <a:ext uri="{FF2B5EF4-FFF2-40B4-BE49-F238E27FC236}">
                <a16:creationId xmlns:a16="http://schemas.microsoft.com/office/drawing/2014/main" id="{AF4AF4DF-D85B-4125-AF3A-2E997A85525B}"/>
              </a:ext>
            </a:extLst>
          </p:cNvPr>
          <p:cNvSpPr>
            <a:spLocks xmlns:a="http://schemas.openxmlformats.org/drawingml/2006/main" noGrp="1"/>
          </p:cNvSpPr>
          <p:nvPr/>
        </p:nvSpPr>
        <p:spPr>
          <a:xfrm xmlns:a="http://schemas.openxmlformats.org/drawingml/2006/main">
            <a:off x="777240" y="1828800"/>
            <a:ext cx="5212080" cy="146304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 name="Google Shape;35;p4">
            <a:extLst xmlns:a="http://schemas.openxmlformats.org/drawingml/2006/main">
              <a:ext uri="{FF2B5EF4-FFF2-40B4-BE49-F238E27FC236}">
                <a16:creationId xmlns:a16="http://schemas.microsoft.com/office/drawing/2014/main" id="{B5D2C13B-FB05-4E49-A033-B26AB373BA66}"/>
              </a:ext>
            </a:extLst>
          </p:cNvPr>
          <p:cNvSpPr>
            <a:spLocks xmlns:a="http://schemas.openxmlformats.org/drawingml/2006/main" noGrp="1"/>
          </p:cNvSpPr>
          <p:nvPr/>
        </p:nvSpPr>
        <p:spPr>
          <a:xfrm xmlns:a="http://schemas.openxmlformats.org/drawingml/2006/main">
            <a:off x="777240" y="1828800"/>
            <a:ext cx="73152" cy="146304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6" name="Google Shape;36;p4">
            <a:extLst xmlns:a="http://schemas.openxmlformats.org/drawingml/2006/main">
              <a:ext uri="{FF2B5EF4-FFF2-40B4-BE49-F238E27FC236}">
                <a16:creationId xmlns:a16="http://schemas.microsoft.com/office/drawing/2014/main" id="{4B632CBB-01D4-4094-AF55-41408754C5AA}"/>
              </a:ext>
            </a:extLst>
          </p:cNvPr>
          <p:cNvSpPr>
            <a:spLocks xmlns:a="http://schemas.openxmlformats.org/drawingml/2006/main" noGrp="1"/>
          </p:cNvSpPr>
          <p:nvPr/>
        </p:nvSpPr>
        <p:spPr>
          <a:xfrm xmlns:a="http://schemas.openxmlformats.org/drawingml/2006/main">
            <a:off x="978408" y="1993392"/>
            <a:ext cx="4892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TODAY’S TARGET</a:t>
            </a:r>
          </a:p>
        </p:txBody>
      </p:sp>
      <p:sp>
        <p:nvSpPr>
          <p:cNvPr id="37" name="Google Shape;37;p4">
            <a:extLst xmlns:a="http://schemas.openxmlformats.org/drawingml/2006/main">
              <a:ext uri="{FF2B5EF4-FFF2-40B4-BE49-F238E27FC236}">
                <a16:creationId xmlns:a16="http://schemas.microsoft.com/office/drawing/2014/main" id="{2727A78F-2B96-4109-9801-557FC32DDE18}"/>
              </a:ext>
            </a:extLst>
          </p:cNvPr>
          <p:cNvSpPr>
            <a:spLocks xmlns:a="http://schemas.openxmlformats.org/drawingml/2006/main" noGrp="1"/>
          </p:cNvSpPr>
          <p:nvPr/>
        </p:nvSpPr>
        <p:spPr>
          <a:xfrm xmlns:a="http://schemas.openxmlformats.org/drawingml/2006/main">
            <a:off x="978408" y="2331720"/>
            <a:ext cx="489204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Turn scattered project evidence into a clean, analysis-ready data set without damaging the original record.</a:t>
            </a:r>
          </a:p>
        </p:txBody>
      </p:sp>
      <p:sp>
        <p:nvSpPr>
          <p:cNvPr id="38" name="Google Shape;38;p4">
            <a:extLst xmlns:a="http://schemas.openxmlformats.org/drawingml/2006/main">
              <a:ext uri="{FF2B5EF4-FFF2-40B4-BE49-F238E27FC236}">
                <a16:creationId xmlns:a16="http://schemas.microsoft.com/office/drawing/2014/main" id="{2A34AB35-4220-49CF-A57E-EBCBA8E6E0F0}"/>
              </a:ext>
            </a:extLst>
          </p:cNvPr>
          <p:cNvSpPr>
            <a:spLocks xmlns:a="http://schemas.openxmlformats.org/drawingml/2006/main" noGrp="1"/>
          </p:cNvSpPr>
          <p:nvPr/>
        </p:nvSpPr>
        <p:spPr>
          <a:xfrm xmlns:a="http://schemas.openxmlformats.org/drawingml/2006/main">
            <a:off x="6217920" y="1828800"/>
            <a:ext cx="5212080" cy="146304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 name="Google Shape;39;p4">
            <a:extLst xmlns:a="http://schemas.openxmlformats.org/drawingml/2006/main">
              <a:ext uri="{FF2B5EF4-FFF2-40B4-BE49-F238E27FC236}">
                <a16:creationId xmlns:a16="http://schemas.microsoft.com/office/drawing/2014/main" id="{35B3C459-7938-4741-9DD8-03709EF67CF1}"/>
              </a:ext>
            </a:extLst>
          </p:cNvPr>
          <p:cNvSpPr>
            <a:spLocks xmlns:a="http://schemas.openxmlformats.org/drawingml/2006/main" noGrp="1"/>
          </p:cNvSpPr>
          <p:nvPr/>
        </p:nvSpPr>
        <p:spPr>
          <a:xfrm xmlns:a="http://schemas.openxmlformats.org/drawingml/2006/main">
            <a:off x="6217920" y="1828800"/>
            <a:ext cx="73152" cy="146304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 name="Google Shape;40;p4">
            <a:extLst xmlns:a="http://schemas.openxmlformats.org/drawingml/2006/main">
              <a:ext uri="{FF2B5EF4-FFF2-40B4-BE49-F238E27FC236}">
                <a16:creationId xmlns:a16="http://schemas.microsoft.com/office/drawing/2014/main" id="{7E3B6014-E39A-4F31-877E-0A30A78D092A}"/>
              </a:ext>
            </a:extLst>
          </p:cNvPr>
          <p:cNvSpPr>
            <a:spLocks xmlns:a="http://schemas.openxmlformats.org/drawingml/2006/main" noGrp="1"/>
          </p:cNvSpPr>
          <p:nvPr/>
        </p:nvSpPr>
        <p:spPr>
          <a:xfrm xmlns:a="http://schemas.openxmlformats.org/drawingml/2006/main">
            <a:off x="6419088" y="1993392"/>
            <a:ext cx="4892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WHY IT MATTERS</a:t>
            </a:r>
          </a:p>
        </p:txBody>
      </p:sp>
      <p:sp>
        <p:nvSpPr>
          <p:cNvPr id="41" name="Google Shape;41;p4">
            <a:extLst xmlns:a="http://schemas.openxmlformats.org/drawingml/2006/main">
              <a:ext uri="{FF2B5EF4-FFF2-40B4-BE49-F238E27FC236}">
                <a16:creationId xmlns:a16="http://schemas.microsoft.com/office/drawing/2014/main" id="{2875C37F-6B21-46F1-96BF-8EE373190AB6}"/>
              </a:ext>
            </a:extLst>
          </p:cNvPr>
          <p:cNvSpPr>
            <a:spLocks xmlns:a="http://schemas.openxmlformats.org/drawingml/2006/main" noGrp="1"/>
          </p:cNvSpPr>
          <p:nvPr/>
        </p:nvSpPr>
        <p:spPr>
          <a:xfrm xmlns:a="http://schemas.openxmlformats.org/drawingml/2006/main">
            <a:off x="6419088" y="2331720"/>
            <a:ext cx="489204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If data are unlabeled, overwritten, or stored in five places, the analysis stage becomes guesswork.</a:t>
            </a:r>
          </a:p>
        </p:txBody>
      </p:sp>
      <p:sp>
        <p:nvSpPr>
          <p:cNvPr id="42" name="Google Shape;42;p4">
            <a:extLst xmlns:a="http://schemas.openxmlformats.org/drawingml/2006/main">
              <a:ext uri="{FF2B5EF4-FFF2-40B4-BE49-F238E27FC236}">
                <a16:creationId xmlns:a16="http://schemas.microsoft.com/office/drawing/2014/main" id="{8D9CF660-4449-4486-88F4-AC8F728470EF}"/>
              </a:ext>
            </a:extLst>
          </p:cNvPr>
          <p:cNvSpPr>
            <a:spLocks xmlns:a="http://schemas.openxmlformats.org/drawingml/2006/main" noGrp="1"/>
          </p:cNvSpPr>
          <p:nvPr/>
        </p:nvSpPr>
        <p:spPr>
          <a:xfrm xmlns:a="http://schemas.openxmlformats.org/drawingml/2006/main">
            <a:off x="777250" y="3657600"/>
            <a:ext cx="10652700" cy="271170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 name="Google Shape;43;p4">
            <a:extLst xmlns:a="http://schemas.openxmlformats.org/drawingml/2006/main">
              <a:ext uri="{FF2B5EF4-FFF2-40B4-BE49-F238E27FC236}">
                <a16:creationId xmlns:a16="http://schemas.microsoft.com/office/drawing/2014/main" id="{033E99AC-0FBC-44A9-A837-ED9DBA5C541F}"/>
              </a:ext>
            </a:extLst>
          </p:cNvPr>
          <p:cNvSpPr>
            <a:spLocks xmlns:a="http://schemas.openxmlformats.org/drawingml/2006/main" noGrp="1"/>
          </p:cNvSpPr>
          <p:nvPr/>
        </p:nvSpPr>
        <p:spPr>
          <a:xfrm xmlns:a="http://schemas.openxmlformats.org/drawingml/2006/main">
            <a:off x="1005840" y="388620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4" name="Google Shape;44;p4">
            <a:extLst xmlns:a="http://schemas.openxmlformats.org/drawingml/2006/main">
              <a:ext uri="{FF2B5EF4-FFF2-40B4-BE49-F238E27FC236}">
                <a16:creationId xmlns:a16="http://schemas.microsoft.com/office/drawing/2014/main" id="{6AC611D9-75BE-4938-B9E0-26AA4961AC31}"/>
              </a:ext>
            </a:extLst>
          </p:cNvPr>
          <p:cNvSpPr>
            <a:spLocks xmlns:a="http://schemas.openxmlformats.org/drawingml/2006/main" noGrp="1"/>
          </p:cNvSpPr>
          <p:nvPr/>
        </p:nvSpPr>
        <p:spPr>
          <a:xfrm xmlns:a="http://schemas.openxmlformats.org/drawingml/2006/main">
            <a:off x="1051560" y="394106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45" name="Google Shape;45;p4">
            <a:extLst xmlns:a="http://schemas.openxmlformats.org/drawingml/2006/main">
              <a:ext uri="{FF2B5EF4-FFF2-40B4-BE49-F238E27FC236}">
                <a16:creationId xmlns:a16="http://schemas.microsoft.com/office/drawing/2014/main" id="{B7BAFEAB-2BC9-4678-9462-C5874B27A0D4}"/>
              </a:ext>
            </a:extLst>
          </p:cNvPr>
          <p:cNvSpPr>
            <a:spLocks xmlns:a="http://schemas.openxmlformats.org/drawingml/2006/main" noGrp="1"/>
          </p:cNvSpPr>
          <p:nvPr/>
        </p:nvSpPr>
        <p:spPr>
          <a:xfrm xmlns:a="http://schemas.openxmlformats.org/drawingml/2006/main">
            <a:off x="1005840" y="4315968"/>
            <a:ext cx="1019556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By the end, your data should be understandable to someone else.</a:t>
            </a:r>
          </a:p>
        </p:txBody>
      </p:sp>
      <p:sp>
        <p:nvSpPr>
          <p:cNvPr id="46" name="Google Shape;46;p4">
            <a:extLst xmlns:a="http://schemas.openxmlformats.org/drawingml/2006/main">
              <a:ext uri="{FF2B5EF4-FFF2-40B4-BE49-F238E27FC236}">
                <a16:creationId xmlns:a16="http://schemas.microsoft.com/office/drawing/2014/main" id="{E7DE9CB4-8C42-45E0-ABAC-0C4116F37E91}"/>
              </a:ext>
            </a:extLst>
          </p:cNvPr>
          <p:cNvSpPr>
            <a:spLocks xmlns:a="http://schemas.openxmlformats.org/drawingml/2006/main" noGrp="1"/>
          </p:cNvSpPr>
          <p:nvPr/>
        </p:nvSpPr>
        <p:spPr>
          <a:xfrm xmlns:a="http://schemas.openxmlformats.org/drawingml/2006/main">
            <a:off x="1033272" y="4736592"/>
            <a:ext cx="1014069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 Student Handout 1: Raw Data Inventory; Student Handout 2: Clean Data Set Builder</a:t>
            </a:r>
          </a:p>
        </p:txBody>
      </p:sp>
      <p:sp>
        <p:nvSpPr>
          <p:cNvPr id="47" name="Google Shape;47;p4">
            <a:extLst xmlns:a="http://schemas.openxmlformats.org/drawingml/2006/main">
              <a:ext uri="{FF2B5EF4-FFF2-40B4-BE49-F238E27FC236}">
                <a16:creationId xmlns:a16="http://schemas.microsoft.com/office/drawing/2014/main" id="{940DE74E-DEBC-4BC7-B4CE-503C9793DE64}"/>
              </a:ext>
            </a:extLst>
          </p:cNvPr>
          <p:cNvSpPr>
            <a:spLocks xmlns:a="http://schemas.openxmlformats.org/drawingml/2006/main" noGrp="1"/>
          </p:cNvSpPr>
          <p:nvPr/>
        </p:nvSpPr>
        <p:spPr>
          <a:xfrm xmlns:a="http://schemas.openxmlformats.org/drawingml/2006/main">
            <a:off x="1097275" y="5193874"/>
            <a:ext cx="9966900" cy="81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Locate raw data and preserve it</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Create a clean working copy for analysis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Flag questionable data instead of deleting it</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Use labels, units, trial numbers, and file names consistently</a:t>
            </a:r>
          </a:p>
        </p:txBody>
      </p:sp>
    </p:spTree>
    <p:extLst>
      <p:ext uri="{BB962C8B-B14F-4D97-AF65-F5344CB8AC3E}">
        <p14:creationId xmlns:p14="http://schemas.microsoft.com/office/powerpoint/2010/main" val="1034316357"/>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73" name="Google Shape;53;p5"/>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74" name="Google Shape;54;p5"/>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55" name="Google Shape;55;p5">
            <a:extLst xmlns:a="http://schemas.openxmlformats.org/drawingml/2006/main">
              <a:ext uri="{FF2B5EF4-FFF2-40B4-BE49-F238E27FC236}">
                <a16:creationId xmlns:a16="http://schemas.microsoft.com/office/drawing/2014/main" id="{E36ED23C-5904-4C50-85A2-8B6379B97CBB}"/>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56" name="Google Shape;56;p5">
            <a:extLst xmlns:a="http://schemas.openxmlformats.org/drawingml/2006/main">
              <a:ext uri="{FF2B5EF4-FFF2-40B4-BE49-F238E27FC236}">
                <a16:creationId xmlns:a16="http://schemas.microsoft.com/office/drawing/2014/main" id="{95BE6087-566D-4F80-A0B4-D421D5433ACB}"/>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57" name="Google Shape;57;p5">
            <a:extLst xmlns:a="http://schemas.openxmlformats.org/drawingml/2006/main">
              <a:ext uri="{FF2B5EF4-FFF2-40B4-BE49-F238E27FC236}">
                <a16:creationId xmlns:a16="http://schemas.microsoft.com/office/drawing/2014/main" id="{435DCA4E-3574-4653-B1EB-FB3B84154D48}"/>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58" name="Google Shape;58;p5">
            <a:extLst xmlns:a="http://schemas.openxmlformats.org/drawingml/2006/main">
              <a:ext uri="{FF2B5EF4-FFF2-40B4-BE49-F238E27FC236}">
                <a16:creationId xmlns:a16="http://schemas.microsoft.com/office/drawing/2014/main" id="{8EC7DC8A-2D53-4271-B239-B19A6510B3AC}"/>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The real problem: data decay</a:t>
            </a:r>
          </a:p>
        </p:txBody>
      </p:sp>
      <p:cxnSp>
        <p:nvCxnSpPr>
          <p:cNvPr id="79" name="Google Shape;59;p5"/>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60" name="Google Shape;60;p5">
            <a:extLst xmlns:a="http://schemas.openxmlformats.org/drawingml/2006/main">
              <a:ext uri="{FF2B5EF4-FFF2-40B4-BE49-F238E27FC236}">
                <a16:creationId xmlns:a16="http://schemas.microsoft.com/office/drawing/2014/main" id="{DF4FE90C-BAD8-4BB4-A644-5CAC0D361463}"/>
              </a:ext>
            </a:extLst>
          </p:cNvPr>
          <p:cNvSpPr>
            <a:spLocks xmlns:a="http://schemas.openxmlformats.org/drawingml/2006/main" noGrp="1"/>
          </p:cNvSpPr>
          <p:nvPr/>
        </p:nvSpPr>
        <p:spPr>
          <a:xfrm xmlns:a="http://schemas.openxmlformats.org/drawingml/2006/main">
            <a:off x="777240" y="1783080"/>
            <a:ext cx="106070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400"/>
              <a:buFont typeface="Play"/>
              <a:buNone/>
            </a:pPr>
            <a:r>
              <a:rPr sz="2400" b="1" i="0" u="none" cap="none">
                <a:solidFill>
                  <a:srgbClr val="FFFFFF"/>
                </a:solidFill>
                <a:latin typeface="Play"/>
                <a:ea typeface="Play"/>
                <a:cs typeface="Play"/>
              </a:rPr>
              <a:t>Good data can become useless when...</a:t>
            </a:r>
          </a:p>
        </p:txBody>
      </p:sp>
      <p:sp>
        <p:nvSpPr>
          <p:cNvPr id="61" name="Google Shape;61;p5">
            <a:extLst xmlns:a="http://schemas.openxmlformats.org/drawingml/2006/main">
              <a:ext uri="{FF2B5EF4-FFF2-40B4-BE49-F238E27FC236}">
                <a16:creationId xmlns:a16="http://schemas.microsoft.com/office/drawing/2014/main" id="{F851C4FD-4805-4A98-B5AC-16C1482717A4}"/>
              </a:ext>
            </a:extLst>
          </p:cNvPr>
          <p:cNvSpPr>
            <a:spLocks xmlns:a="http://schemas.openxmlformats.org/drawingml/2006/main" noGrp="1"/>
          </p:cNvSpPr>
          <p:nvPr/>
        </p:nvSpPr>
        <p:spPr>
          <a:xfrm xmlns:a="http://schemas.openxmlformats.org/drawingml/2006/main">
            <a:off x="960120" y="2468880"/>
            <a:ext cx="5669280" cy="3291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Units disappear</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Trial labels are inconsistent</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Photos are named “IMG_4307”</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A procedure changed but no one wrote why</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Failed trials are deleted</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Raw data are overwritten by formulas</a:t>
            </a:r>
          </a:p>
        </p:txBody>
      </p:sp>
      <p:sp>
        <p:nvSpPr>
          <p:cNvPr id="62" name="Google Shape;62;p5">
            <a:extLst xmlns:a="http://schemas.openxmlformats.org/drawingml/2006/main">
              <a:ext uri="{FF2B5EF4-FFF2-40B4-BE49-F238E27FC236}">
                <a16:creationId xmlns:a16="http://schemas.microsoft.com/office/drawing/2014/main" id="{BBC7270C-0BBB-4B94-848C-4B2B5938F497}"/>
              </a:ext>
            </a:extLst>
          </p:cNvPr>
          <p:cNvSpPr>
            <a:spLocks xmlns:a="http://schemas.openxmlformats.org/drawingml/2006/main" noGrp="1"/>
          </p:cNvSpPr>
          <p:nvPr/>
        </p:nvSpPr>
        <p:spPr>
          <a:xfrm xmlns:a="http://schemas.openxmlformats.org/drawingml/2006/main">
            <a:off x="6903720" y="2606040"/>
            <a:ext cx="4251960" cy="21945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3" name="Google Shape;63;p5">
            <a:extLst xmlns:a="http://schemas.openxmlformats.org/drawingml/2006/main">
              <a:ext uri="{FF2B5EF4-FFF2-40B4-BE49-F238E27FC236}">
                <a16:creationId xmlns:a16="http://schemas.microsoft.com/office/drawing/2014/main" id="{85D17734-485A-4607-8114-15453F7F2468}"/>
              </a:ext>
            </a:extLst>
          </p:cNvPr>
          <p:cNvSpPr>
            <a:spLocks xmlns:a="http://schemas.openxmlformats.org/drawingml/2006/main" noGrp="1"/>
          </p:cNvSpPr>
          <p:nvPr/>
        </p:nvSpPr>
        <p:spPr>
          <a:xfrm xmlns:a="http://schemas.openxmlformats.org/drawingml/2006/main">
            <a:off x="6903720" y="2606040"/>
            <a:ext cx="73152" cy="219456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4" name="Google Shape;64;p5">
            <a:extLst xmlns:a="http://schemas.openxmlformats.org/drawingml/2006/main">
              <a:ext uri="{FF2B5EF4-FFF2-40B4-BE49-F238E27FC236}">
                <a16:creationId xmlns:a16="http://schemas.microsoft.com/office/drawing/2014/main" id="{AB549A70-9060-4BFE-AA24-B95F508D3C2F}"/>
              </a:ext>
            </a:extLst>
          </p:cNvPr>
          <p:cNvSpPr>
            <a:spLocks xmlns:a="http://schemas.openxmlformats.org/drawingml/2006/main" noGrp="1"/>
          </p:cNvSpPr>
          <p:nvPr/>
        </p:nvSpPr>
        <p:spPr>
          <a:xfrm xmlns:a="http://schemas.openxmlformats.org/drawingml/2006/main">
            <a:off x="7104888" y="2770632"/>
            <a:ext cx="3931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CORE IDEA</a:t>
            </a:r>
          </a:p>
        </p:txBody>
      </p:sp>
      <p:sp>
        <p:nvSpPr>
          <p:cNvPr id="65" name="Google Shape;65;p5">
            <a:extLst xmlns:a="http://schemas.openxmlformats.org/drawingml/2006/main">
              <a:ext uri="{FF2B5EF4-FFF2-40B4-BE49-F238E27FC236}">
                <a16:creationId xmlns:a16="http://schemas.microsoft.com/office/drawing/2014/main" id="{AAE5E9EF-1BBB-408C-9AC5-BE32621E8E74}"/>
              </a:ext>
            </a:extLst>
          </p:cNvPr>
          <p:cNvSpPr>
            <a:spLocks xmlns:a="http://schemas.openxmlformats.org/drawingml/2006/main" noGrp="1"/>
          </p:cNvSpPr>
          <p:nvPr/>
        </p:nvSpPr>
        <p:spPr>
          <a:xfrm xmlns:a="http://schemas.openxmlformats.org/drawingml/2006/main">
            <a:off x="7104888" y="3108960"/>
            <a:ext cx="3931920" cy="1572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Data organization is not clerical work. It is part of research integrity.</a:t>
            </a:r>
          </a:p>
        </p:txBody>
      </p:sp>
    </p:spTree>
    <p:extLst>
      <p:ext uri="{BB962C8B-B14F-4D97-AF65-F5344CB8AC3E}">
        <p14:creationId xmlns:p14="http://schemas.microsoft.com/office/powerpoint/2010/main" val="1852808790"/>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92" name="Google Shape;71;p6"/>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93" name="Google Shape;72;p6"/>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73" name="Google Shape;73;p6">
            <a:extLst xmlns:a="http://schemas.openxmlformats.org/drawingml/2006/main">
              <a:ext uri="{FF2B5EF4-FFF2-40B4-BE49-F238E27FC236}">
                <a16:creationId xmlns:a16="http://schemas.microsoft.com/office/drawing/2014/main" id="{27EE75EE-6291-4021-9B42-10AC45E3BE99}"/>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74" name="Google Shape;74;p6">
            <a:extLst xmlns:a="http://schemas.openxmlformats.org/drawingml/2006/main">
              <a:ext uri="{FF2B5EF4-FFF2-40B4-BE49-F238E27FC236}">
                <a16:creationId xmlns:a16="http://schemas.microsoft.com/office/drawing/2014/main" id="{8C8838B0-4DF3-4C40-BD1E-448ED5F64AC5}"/>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75" name="Google Shape;75;p6">
            <a:extLst xmlns:a="http://schemas.openxmlformats.org/drawingml/2006/main">
              <a:ext uri="{FF2B5EF4-FFF2-40B4-BE49-F238E27FC236}">
                <a16:creationId xmlns:a16="http://schemas.microsoft.com/office/drawing/2014/main" id="{3545BA62-091C-4D53-BB0B-182E248E2EAE}"/>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76" name="Google Shape;76;p6">
            <a:extLst xmlns:a="http://schemas.openxmlformats.org/drawingml/2006/main">
              <a:ext uri="{FF2B5EF4-FFF2-40B4-BE49-F238E27FC236}">
                <a16:creationId xmlns:a16="http://schemas.microsoft.com/office/drawing/2014/main" id="{92EDEE86-435D-457D-9BCA-AB80EBFFD1F3}"/>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data scavenger hunt</a:t>
            </a:r>
          </a:p>
        </p:txBody>
      </p:sp>
      <p:cxnSp>
        <p:nvCxnSpPr>
          <p:cNvPr id="98" name="Google Shape;77;p6"/>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78" name="Google Shape;78;p6">
            <a:extLst xmlns:a="http://schemas.openxmlformats.org/drawingml/2006/main">
              <a:ext uri="{FF2B5EF4-FFF2-40B4-BE49-F238E27FC236}">
                <a16:creationId xmlns:a16="http://schemas.microsoft.com/office/drawing/2014/main" id="{3964A468-A426-4659-A5B4-A416B669D343}"/>
              </a:ext>
            </a:extLst>
          </p:cNvPr>
          <p:cNvSpPr>
            <a:spLocks xmlns:a="http://schemas.openxmlformats.org/drawingml/2006/main" noGrp="1"/>
          </p:cNvSpPr>
          <p:nvPr/>
        </p:nvSpPr>
        <p:spPr>
          <a:xfrm xmlns:a="http://schemas.openxmlformats.org/drawingml/2006/main">
            <a:off x="822960" y="1737360"/>
            <a:ext cx="10515600" cy="429768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9" name="Google Shape;79;p6">
            <a:extLst xmlns:a="http://schemas.openxmlformats.org/drawingml/2006/main">
              <a:ext uri="{FF2B5EF4-FFF2-40B4-BE49-F238E27FC236}">
                <a16:creationId xmlns:a16="http://schemas.microsoft.com/office/drawing/2014/main" id="{8AECE57A-8784-4A25-80B1-731128BC0C7D}"/>
              </a:ext>
            </a:extLst>
          </p:cNvPr>
          <p:cNvSpPr>
            <a:spLocks xmlns:a="http://schemas.openxmlformats.org/drawingml/2006/main" noGrp="1"/>
          </p:cNvSpPr>
          <p:nvPr/>
        </p:nvSpPr>
        <p:spPr>
          <a:xfrm xmlns:a="http://schemas.openxmlformats.org/drawingml/2006/main">
            <a:off x="1051560" y="196596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80" name="Google Shape;80;p6">
            <a:extLst xmlns:a="http://schemas.openxmlformats.org/drawingml/2006/main">
              <a:ext uri="{FF2B5EF4-FFF2-40B4-BE49-F238E27FC236}">
                <a16:creationId xmlns:a16="http://schemas.microsoft.com/office/drawing/2014/main" id="{DFA2E979-01DB-4839-9981-99BEFE03A3E3}"/>
              </a:ext>
            </a:extLst>
          </p:cNvPr>
          <p:cNvSpPr>
            <a:spLocks xmlns:a="http://schemas.openxmlformats.org/drawingml/2006/main" noGrp="1"/>
          </p:cNvSpPr>
          <p:nvPr/>
        </p:nvSpPr>
        <p:spPr>
          <a:xfrm xmlns:a="http://schemas.openxmlformats.org/drawingml/2006/main">
            <a:off x="1097280" y="202082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81" name="Google Shape;81;p6">
            <a:extLst xmlns:a="http://schemas.openxmlformats.org/drawingml/2006/main">
              <a:ext uri="{FF2B5EF4-FFF2-40B4-BE49-F238E27FC236}">
                <a16:creationId xmlns:a16="http://schemas.microsoft.com/office/drawing/2014/main" id="{97F78820-408E-4F25-AE2D-2BE8BF78D1B6}"/>
              </a:ext>
            </a:extLst>
          </p:cNvPr>
          <p:cNvSpPr>
            <a:spLocks xmlns:a="http://schemas.openxmlformats.org/drawingml/2006/main" noGrp="1"/>
          </p:cNvSpPr>
          <p:nvPr/>
        </p:nvSpPr>
        <p:spPr>
          <a:xfrm xmlns:a="http://schemas.openxmlformats.org/drawingml/2006/main">
            <a:off x="1051560" y="2395728"/>
            <a:ext cx="100584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Find every place your project evidence currently lives.</a:t>
            </a:r>
          </a:p>
        </p:txBody>
      </p:sp>
      <p:sp>
        <p:nvSpPr>
          <p:cNvPr id="82" name="Google Shape;82;p6">
            <a:extLst xmlns:a="http://schemas.openxmlformats.org/drawingml/2006/main">
              <a:ext uri="{FF2B5EF4-FFF2-40B4-BE49-F238E27FC236}">
                <a16:creationId xmlns:a16="http://schemas.microsoft.com/office/drawing/2014/main" id="{23D5A82B-622C-46B6-A4C8-D99C1CACCD7A}"/>
              </a:ext>
            </a:extLst>
          </p:cNvPr>
          <p:cNvSpPr>
            <a:spLocks xmlns:a="http://schemas.openxmlformats.org/drawingml/2006/main" noGrp="1"/>
          </p:cNvSpPr>
          <p:nvPr/>
        </p:nvSpPr>
        <p:spPr>
          <a:xfrm xmlns:a="http://schemas.openxmlformats.org/drawingml/2006/main">
            <a:off x="1078992" y="2816352"/>
            <a:ext cx="100035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Day 1 • Student Handout 1: Raw Data Inventory</a:t>
            </a:r>
          </a:p>
        </p:txBody>
      </p:sp>
      <p:sp>
        <p:nvSpPr>
          <p:cNvPr id="83" name="Google Shape;83;p6">
            <a:extLst xmlns:a="http://schemas.openxmlformats.org/drawingml/2006/main">
              <a:ext uri="{FF2B5EF4-FFF2-40B4-BE49-F238E27FC236}">
                <a16:creationId xmlns:a16="http://schemas.microsoft.com/office/drawing/2014/main" id="{CDFCF2DA-7E21-417D-9746-F58F51178A0D}"/>
              </a:ext>
            </a:extLst>
          </p:cNvPr>
          <p:cNvSpPr>
            <a:spLocks xmlns:a="http://schemas.openxmlformats.org/drawingml/2006/main" noGrp="1"/>
          </p:cNvSpPr>
          <p:nvPr/>
        </p:nvSpPr>
        <p:spPr>
          <a:xfrm xmlns:a="http://schemas.openxmlformats.org/drawingml/2006/main">
            <a:off x="1143000" y="3273552"/>
            <a:ext cx="9829800" cy="23591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Research journal or notebook</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Spreadsheet or data table</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Photos, videos, or screenshots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Sensor exports, code outputs, or files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Prototype notes, mentor feedback, or emails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Any data stored only in your head — write it down now</a:t>
            </a:r>
          </a:p>
        </p:txBody>
      </p:sp>
      <p:sp>
        <p:nvSpPr>
          <p:cNvPr id="84" name="Google Shape;84;p6">
            <a:extLst xmlns:a="http://schemas.openxmlformats.org/drawingml/2006/main">
              <a:ext uri="{FF2B5EF4-FFF2-40B4-BE49-F238E27FC236}">
                <a16:creationId xmlns:a16="http://schemas.microsoft.com/office/drawing/2014/main" id="{CAC4E55A-E5BF-4367-9D52-9C3308779552}"/>
              </a:ext>
            </a:extLst>
          </p:cNvPr>
          <p:cNvSpPr>
            <a:spLocks xmlns:a="http://schemas.openxmlformats.org/drawingml/2006/main" noGrp="1"/>
          </p:cNvSpPr>
          <p:nvPr/>
        </p:nvSpPr>
        <p:spPr>
          <a:xfrm xmlns:a="http://schemas.openxmlformats.org/drawingml/2006/main">
            <a:off x="868680" y="6172200"/>
            <a:ext cx="10515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1400"/>
              <a:buFont typeface="Arial"/>
              <a:buNone/>
            </a:pPr>
            <a:r>
              <a:rPr sz="1400" b="0" i="0" u="none" cap="none">
                <a:solidFill>
                  <a:srgbClr val="B8B8B8"/>
                </a:solidFill>
                <a:latin typeface="Arial"/>
                <a:ea typeface="Arial"/>
                <a:cs typeface="Arial"/>
              </a:rPr>
              <a:t>Deliverable: a raw data inventory with file/location names.</a:t>
            </a:r>
          </a:p>
        </p:txBody>
      </p:sp>
    </p:spTree>
    <p:extLst>
      <p:ext uri="{BB962C8B-B14F-4D97-AF65-F5344CB8AC3E}">
        <p14:creationId xmlns:p14="http://schemas.microsoft.com/office/powerpoint/2010/main" val="822281669"/>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110" name="Google Shape;90;p7"/>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111" name="Google Shape;91;p7"/>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92" name="Google Shape;92;p7">
            <a:extLst xmlns:a="http://schemas.openxmlformats.org/drawingml/2006/main">
              <a:ext uri="{FF2B5EF4-FFF2-40B4-BE49-F238E27FC236}">
                <a16:creationId xmlns:a16="http://schemas.microsoft.com/office/drawing/2014/main" id="{8D31F5B1-AFC9-4D0B-9693-FA59B24E518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93" name="Google Shape;93;p7">
            <a:extLst xmlns:a="http://schemas.openxmlformats.org/drawingml/2006/main">
              <a:ext uri="{FF2B5EF4-FFF2-40B4-BE49-F238E27FC236}">
                <a16:creationId xmlns:a16="http://schemas.microsoft.com/office/drawing/2014/main" id="{112E7911-1F32-4D5B-92BC-22D77145BEFE}"/>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94" name="Google Shape;94;p7">
            <a:extLst xmlns:a="http://schemas.openxmlformats.org/drawingml/2006/main">
              <a:ext uri="{FF2B5EF4-FFF2-40B4-BE49-F238E27FC236}">
                <a16:creationId xmlns:a16="http://schemas.microsoft.com/office/drawing/2014/main" id="{7B7F5CA1-6E03-4E98-8B70-EF8046C1BA61}"/>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95" name="Google Shape;95;p7">
            <a:extLst xmlns:a="http://schemas.openxmlformats.org/drawingml/2006/main">
              <a:ext uri="{FF2B5EF4-FFF2-40B4-BE49-F238E27FC236}">
                <a16:creationId xmlns:a16="http://schemas.microsoft.com/office/drawing/2014/main" id="{B723033E-2508-49C8-8445-4E8146826BA3}"/>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Raw data: the original record</a:t>
            </a:r>
          </a:p>
        </p:txBody>
      </p:sp>
      <p:cxnSp>
        <p:nvCxnSpPr>
          <p:cNvPr id="116" name="Google Shape;96;p7"/>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97" name="Google Shape;97;p7">
            <a:extLst xmlns:a="http://schemas.openxmlformats.org/drawingml/2006/main">
              <a:ext uri="{FF2B5EF4-FFF2-40B4-BE49-F238E27FC236}">
                <a16:creationId xmlns:a16="http://schemas.microsoft.com/office/drawing/2014/main" id="{1E72C3D1-2025-4BC9-9179-280CFFE50594}"/>
              </a:ext>
            </a:extLst>
          </p:cNvPr>
          <p:cNvSpPr>
            <a:spLocks xmlns:a="http://schemas.openxmlformats.org/drawingml/2006/main" noGrp="1"/>
          </p:cNvSpPr>
          <p:nvPr/>
        </p:nvSpPr>
        <p:spPr>
          <a:xfrm xmlns:a="http://schemas.openxmlformats.org/drawingml/2006/main">
            <a:off x="68580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8" name="Google Shape;98;p7">
            <a:extLst xmlns:a="http://schemas.openxmlformats.org/drawingml/2006/main">
              <a:ext uri="{FF2B5EF4-FFF2-40B4-BE49-F238E27FC236}">
                <a16:creationId xmlns:a16="http://schemas.microsoft.com/office/drawing/2014/main" id="{007BD90A-6A83-4DBE-8D7B-FB1559BF783A}"/>
              </a:ext>
            </a:extLst>
          </p:cNvPr>
          <p:cNvSpPr>
            <a:spLocks xmlns:a="http://schemas.openxmlformats.org/drawingml/2006/main" noGrp="1"/>
          </p:cNvSpPr>
          <p:nvPr/>
        </p:nvSpPr>
        <p:spPr>
          <a:xfrm xmlns:a="http://schemas.openxmlformats.org/drawingml/2006/main">
            <a:off x="630936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9" name="Google Shape;99;p7">
            <a:extLst xmlns:a="http://schemas.openxmlformats.org/drawingml/2006/main">
              <a:ext uri="{FF2B5EF4-FFF2-40B4-BE49-F238E27FC236}">
                <a16:creationId xmlns:a16="http://schemas.microsoft.com/office/drawing/2014/main" id="{361EA429-694E-4820-AE65-B08FFC692432}"/>
              </a:ext>
            </a:extLst>
          </p:cNvPr>
          <p:cNvSpPr>
            <a:spLocks xmlns:a="http://schemas.openxmlformats.org/drawingml/2006/main" noGrp="1"/>
          </p:cNvSpPr>
          <p:nvPr/>
        </p:nvSpPr>
        <p:spPr>
          <a:xfrm xmlns:a="http://schemas.openxmlformats.org/drawingml/2006/main">
            <a:off x="96012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RAW DATA IS</a:t>
            </a:r>
          </a:p>
        </p:txBody>
      </p:sp>
      <p:sp>
        <p:nvSpPr>
          <p:cNvPr id="100" name="Google Shape;100;p7">
            <a:extLst xmlns:a="http://schemas.openxmlformats.org/drawingml/2006/main">
              <a:ext uri="{FF2B5EF4-FFF2-40B4-BE49-F238E27FC236}">
                <a16:creationId xmlns:a16="http://schemas.microsoft.com/office/drawing/2014/main" id="{FB2A4E5D-5B81-4C27-B95D-ECC4F06DCC5F}"/>
              </a:ext>
            </a:extLst>
          </p:cNvPr>
          <p:cNvSpPr>
            <a:spLocks xmlns:a="http://schemas.openxmlformats.org/drawingml/2006/main" noGrp="1"/>
          </p:cNvSpPr>
          <p:nvPr/>
        </p:nvSpPr>
        <p:spPr>
          <a:xfrm xmlns:a="http://schemas.openxmlformats.org/drawingml/2006/main">
            <a:off x="658368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RAW DATA IS NOT</a:t>
            </a:r>
          </a:p>
        </p:txBody>
      </p:sp>
      <p:sp>
        <p:nvSpPr>
          <p:cNvPr id="101" name="Google Shape;101;p7">
            <a:extLst xmlns:a="http://schemas.openxmlformats.org/drawingml/2006/main">
              <a:ext uri="{FF2B5EF4-FFF2-40B4-BE49-F238E27FC236}">
                <a16:creationId xmlns:a16="http://schemas.microsoft.com/office/drawing/2014/main" id="{936E32B1-ACD2-4F03-995D-B25F0EF7349A}"/>
              </a:ext>
            </a:extLst>
          </p:cNvPr>
          <p:cNvSpPr>
            <a:spLocks xmlns:a="http://schemas.openxmlformats.org/drawingml/2006/main" noGrp="1"/>
          </p:cNvSpPr>
          <p:nvPr/>
        </p:nvSpPr>
        <p:spPr>
          <a:xfrm xmlns:a="http://schemas.openxmlformats.org/drawingml/2006/main">
            <a:off x="96012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Original measurements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Original sensor output</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Notebook entries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Photos or videos from testing</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Prototype trial logs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Unedited survey export, if approved</a:t>
            </a:r>
          </a:p>
        </p:txBody>
      </p:sp>
      <p:sp>
        <p:nvSpPr>
          <p:cNvPr id="102" name="Google Shape;102;p7">
            <a:extLst xmlns:a="http://schemas.openxmlformats.org/drawingml/2006/main">
              <a:ext uri="{FF2B5EF4-FFF2-40B4-BE49-F238E27FC236}">
                <a16:creationId xmlns:a16="http://schemas.microsoft.com/office/drawing/2014/main" id="{0AD9B2ED-13B0-42CC-A3C6-F5C3C71EE10E}"/>
              </a:ext>
            </a:extLst>
          </p:cNvPr>
          <p:cNvSpPr>
            <a:spLocks xmlns:a="http://schemas.openxmlformats.org/drawingml/2006/main" noGrp="1"/>
          </p:cNvSpPr>
          <p:nvPr/>
        </p:nvSpPr>
        <p:spPr>
          <a:xfrm xmlns:a="http://schemas.openxmlformats.org/drawingml/2006/main">
            <a:off x="658368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polished graph</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cleaned-up summary only</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table with failed trials removed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memory of what probably happened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file with formulas overwriting measurements</a:t>
            </a:r>
          </a:p>
        </p:txBody>
      </p:sp>
    </p:spTree>
    <p:extLst>
      <p:ext uri="{BB962C8B-B14F-4D97-AF65-F5344CB8AC3E}">
        <p14:creationId xmlns:p14="http://schemas.microsoft.com/office/powerpoint/2010/main" val="1554289670"/>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128" name="Google Shape;108;p8"/>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129" name="Google Shape;109;p8"/>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110" name="Google Shape;110;p8">
            <a:extLst xmlns:a="http://schemas.openxmlformats.org/drawingml/2006/main">
              <a:ext uri="{FF2B5EF4-FFF2-40B4-BE49-F238E27FC236}">
                <a16:creationId xmlns:a16="http://schemas.microsoft.com/office/drawing/2014/main" id="{D973419E-A6BE-49F5-B14A-449E0DFE745B}"/>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111" name="Google Shape;111;p8">
            <a:extLst xmlns:a="http://schemas.openxmlformats.org/drawingml/2006/main">
              <a:ext uri="{FF2B5EF4-FFF2-40B4-BE49-F238E27FC236}">
                <a16:creationId xmlns:a16="http://schemas.microsoft.com/office/drawing/2014/main" id="{1A2D7862-E4DE-4807-9DDB-DB12669CC70B}"/>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112" name="Google Shape;112;p8">
            <a:extLst xmlns:a="http://schemas.openxmlformats.org/drawingml/2006/main">
              <a:ext uri="{FF2B5EF4-FFF2-40B4-BE49-F238E27FC236}">
                <a16:creationId xmlns:a16="http://schemas.microsoft.com/office/drawing/2014/main" id="{EC7E71FC-E88E-4132-8579-E8AEA44E57CF}"/>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113" name="Google Shape;113;p8">
            <a:extLst xmlns:a="http://schemas.openxmlformats.org/drawingml/2006/main">
              <a:ext uri="{FF2B5EF4-FFF2-40B4-BE49-F238E27FC236}">
                <a16:creationId xmlns:a16="http://schemas.microsoft.com/office/drawing/2014/main" id="{D5252FFA-61D0-42BB-A5E3-AF61E99D77E6}"/>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Clean data: a working copy for analysis</a:t>
            </a:r>
          </a:p>
        </p:txBody>
      </p:sp>
      <p:cxnSp>
        <p:nvCxnSpPr>
          <p:cNvPr id="134" name="Google Shape;114;p8"/>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115" name="Google Shape;115;p8">
            <a:extLst xmlns:a="http://schemas.openxmlformats.org/drawingml/2006/main">
              <a:ext uri="{FF2B5EF4-FFF2-40B4-BE49-F238E27FC236}">
                <a16:creationId xmlns:a16="http://schemas.microsoft.com/office/drawing/2014/main" id="{3C6E28B8-D639-427E-A167-9E32A3DF01FE}"/>
              </a:ext>
            </a:extLst>
          </p:cNvPr>
          <p:cNvSpPr>
            <a:spLocks xmlns:a="http://schemas.openxmlformats.org/drawingml/2006/main" noGrp="1"/>
          </p:cNvSpPr>
          <p:nvPr/>
        </p:nvSpPr>
        <p:spPr>
          <a:xfrm xmlns:a="http://schemas.openxmlformats.org/drawingml/2006/main">
            <a:off x="68580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16" name="Google Shape;116;p8">
            <a:extLst xmlns:a="http://schemas.openxmlformats.org/drawingml/2006/main">
              <a:ext uri="{FF2B5EF4-FFF2-40B4-BE49-F238E27FC236}">
                <a16:creationId xmlns:a16="http://schemas.microsoft.com/office/drawing/2014/main" id="{C9D13B33-08AC-4CCE-920F-266985BDB814}"/>
              </a:ext>
            </a:extLst>
          </p:cNvPr>
          <p:cNvSpPr>
            <a:spLocks xmlns:a="http://schemas.openxmlformats.org/drawingml/2006/main" noGrp="1"/>
          </p:cNvSpPr>
          <p:nvPr/>
        </p:nvSpPr>
        <p:spPr>
          <a:xfrm xmlns:a="http://schemas.openxmlformats.org/drawingml/2006/main">
            <a:off x="630936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17" name="Google Shape;117;p8">
            <a:extLst xmlns:a="http://schemas.openxmlformats.org/drawingml/2006/main">
              <a:ext uri="{FF2B5EF4-FFF2-40B4-BE49-F238E27FC236}">
                <a16:creationId xmlns:a16="http://schemas.microsoft.com/office/drawing/2014/main" id="{58ECD869-37C3-4F72-968A-55DCDFA99693}"/>
              </a:ext>
            </a:extLst>
          </p:cNvPr>
          <p:cNvSpPr>
            <a:spLocks xmlns:a="http://schemas.openxmlformats.org/drawingml/2006/main" noGrp="1"/>
          </p:cNvSpPr>
          <p:nvPr/>
        </p:nvSpPr>
        <p:spPr>
          <a:xfrm xmlns:a="http://schemas.openxmlformats.org/drawingml/2006/main">
            <a:off x="96012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CLEAN DATA DOES</a:t>
            </a:r>
          </a:p>
        </p:txBody>
      </p:sp>
      <p:sp>
        <p:nvSpPr>
          <p:cNvPr id="118" name="Google Shape;118;p8">
            <a:extLst xmlns:a="http://schemas.openxmlformats.org/drawingml/2006/main">
              <a:ext uri="{FF2B5EF4-FFF2-40B4-BE49-F238E27FC236}">
                <a16:creationId xmlns:a16="http://schemas.microsoft.com/office/drawing/2014/main" id="{8B1B1E3F-671F-4983-8744-3772EBF5904B}"/>
              </a:ext>
            </a:extLst>
          </p:cNvPr>
          <p:cNvSpPr>
            <a:spLocks xmlns:a="http://schemas.openxmlformats.org/drawingml/2006/main" noGrp="1"/>
          </p:cNvSpPr>
          <p:nvPr/>
        </p:nvSpPr>
        <p:spPr>
          <a:xfrm xmlns:a="http://schemas.openxmlformats.org/drawingml/2006/main">
            <a:off x="658368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CLEAN DATA DOES NOT</a:t>
            </a:r>
          </a:p>
        </p:txBody>
      </p:sp>
      <p:sp>
        <p:nvSpPr>
          <p:cNvPr id="119" name="Google Shape;119;p8">
            <a:extLst xmlns:a="http://schemas.openxmlformats.org/drawingml/2006/main">
              <a:ext uri="{FF2B5EF4-FFF2-40B4-BE49-F238E27FC236}">
                <a16:creationId xmlns:a16="http://schemas.microsoft.com/office/drawing/2014/main" id="{C35B286C-8EF3-4FD3-A674-6403936D41F1}"/>
              </a:ext>
            </a:extLst>
          </p:cNvPr>
          <p:cNvSpPr>
            <a:spLocks xmlns:a="http://schemas.openxmlformats.org/drawingml/2006/main" noGrp="1"/>
          </p:cNvSpPr>
          <p:nvPr/>
        </p:nvSpPr>
        <p:spPr>
          <a:xfrm xmlns:a="http://schemas.openxmlformats.org/drawingml/2006/main">
            <a:off x="96012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Organizes raw measurements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Adds clear labels and units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Separates raw and calculated columns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Flags questionable entries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Makes analysis possible</a:t>
            </a:r>
          </a:p>
        </p:txBody>
      </p:sp>
      <p:sp>
        <p:nvSpPr>
          <p:cNvPr id="120" name="Google Shape;120;p8">
            <a:extLst xmlns:a="http://schemas.openxmlformats.org/drawingml/2006/main">
              <a:ext uri="{FF2B5EF4-FFF2-40B4-BE49-F238E27FC236}">
                <a16:creationId xmlns:a16="http://schemas.microsoft.com/office/drawing/2014/main" id="{D0FF95EC-6EAC-46D0-820E-A856908B7F21}"/>
              </a:ext>
            </a:extLst>
          </p:cNvPr>
          <p:cNvSpPr>
            <a:spLocks xmlns:a="http://schemas.openxmlformats.org/drawingml/2006/main" noGrp="1"/>
          </p:cNvSpPr>
          <p:nvPr/>
        </p:nvSpPr>
        <p:spPr>
          <a:xfrm xmlns:a="http://schemas.openxmlformats.org/drawingml/2006/main">
            <a:off x="658368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Erase inconvenient results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Change numbers to fit expectations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Hide failed trials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Replace the raw record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Remove uncertainty</a:t>
            </a:r>
          </a:p>
        </p:txBody>
      </p:sp>
    </p:spTree>
    <p:extLst>
      <p:ext uri="{BB962C8B-B14F-4D97-AF65-F5344CB8AC3E}">
        <p14:creationId xmlns:p14="http://schemas.microsoft.com/office/powerpoint/2010/main" val="1932151868"/>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183" name="Google Shape;126;p9"/>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184" name="Google Shape;127;p9"/>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128" name="Google Shape;128;p9">
            <a:extLst xmlns:a="http://schemas.openxmlformats.org/drawingml/2006/main">
              <a:ext uri="{FF2B5EF4-FFF2-40B4-BE49-F238E27FC236}">
                <a16:creationId xmlns:a16="http://schemas.microsoft.com/office/drawing/2014/main" id="{88F8B98D-464A-412F-ACD3-7742FB0F5F5A}"/>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129" name="Google Shape;129;p9">
            <a:extLst xmlns:a="http://schemas.openxmlformats.org/drawingml/2006/main">
              <a:ext uri="{FF2B5EF4-FFF2-40B4-BE49-F238E27FC236}">
                <a16:creationId xmlns:a16="http://schemas.microsoft.com/office/drawing/2014/main" id="{14FFC225-9AFA-47A2-8304-346E30B19417}"/>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130" name="Google Shape;130;p9">
            <a:extLst xmlns:a="http://schemas.openxmlformats.org/drawingml/2006/main">
              <a:ext uri="{FF2B5EF4-FFF2-40B4-BE49-F238E27FC236}">
                <a16:creationId xmlns:a16="http://schemas.microsoft.com/office/drawing/2014/main" id="{06AAD04F-A459-4127-84E5-A773386DFE40}"/>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131" name="Google Shape;131;p9">
            <a:extLst xmlns:a="http://schemas.openxmlformats.org/drawingml/2006/main">
              <a:ext uri="{FF2B5EF4-FFF2-40B4-BE49-F238E27FC236}">
                <a16:creationId xmlns:a16="http://schemas.microsoft.com/office/drawing/2014/main" id="{A74A3585-F0F7-4502-A246-9B5AB31B7125}"/>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The STARLAB data pipeline</a:t>
            </a:r>
          </a:p>
        </p:txBody>
      </p:sp>
      <p:cxnSp>
        <p:nvCxnSpPr>
          <p:cNvPr id="189" name="Google Shape;132;p9"/>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133" name="Google Shape;133;p9">
            <a:extLst xmlns:a="http://schemas.openxmlformats.org/drawingml/2006/main">
              <a:ext uri="{FF2B5EF4-FFF2-40B4-BE49-F238E27FC236}">
                <a16:creationId xmlns:a16="http://schemas.microsoft.com/office/drawing/2014/main" id="{6A33846E-4C13-4AB8-9C3C-44398E88972B}"/>
              </a:ext>
            </a:extLst>
          </p:cNvPr>
          <p:cNvSpPr>
            <a:spLocks xmlns:a="http://schemas.openxmlformats.org/drawingml/2006/main" noGrp="1"/>
          </p:cNvSpPr>
          <p:nvPr/>
        </p:nvSpPr>
        <p:spPr>
          <a:xfrm xmlns:a="http://schemas.openxmlformats.org/drawingml/2006/main">
            <a:off x="731520" y="2331720"/>
            <a:ext cx="1920240" cy="1417320"/>
          </a:xfrm>
          <a:prstGeom xmlns:a="http://schemas.openxmlformats.org/drawingml/2006/main" prst="rect">
            <a:avLst/>
          </a:prstGeom>
          <a:solidFill xmlns:a="http://schemas.openxmlformats.org/drawingml/2006/main">
            <a:srgbClr val="151515"/>
          </a:solidFill>
          <a:ln xmlns:a="http://schemas.openxmlformats.org/drawingml/2006/main" w="152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34" name="Google Shape;134;p9">
            <a:extLst xmlns:a="http://schemas.openxmlformats.org/drawingml/2006/main">
              <a:ext uri="{FF2B5EF4-FFF2-40B4-BE49-F238E27FC236}">
                <a16:creationId xmlns:a16="http://schemas.microsoft.com/office/drawing/2014/main" id="{3DBBE055-1030-4579-819F-24FDBF655C04}"/>
              </a:ext>
            </a:extLst>
          </p:cNvPr>
          <p:cNvSpPr>
            <a:spLocks xmlns:a="http://schemas.openxmlformats.org/drawingml/2006/main" noGrp="1"/>
          </p:cNvSpPr>
          <p:nvPr/>
        </p:nvSpPr>
        <p:spPr>
          <a:xfrm xmlns:a="http://schemas.openxmlformats.org/drawingml/2006/main">
            <a:off x="868680"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1</a:t>
            </a:r>
          </a:p>
        </p:txBody>
      </p:sp>
      <p:sp>
        <p:nvSpPr>
          <p:cNvPr id="135" name="Google Shape;135;p9">
            <a:extLst xmlns:a="http://schemas.openxmlformats.org/drawingml/2006/main">
              <a:ext uri="{FF2B5EF4-FFF2-40B4-BE49-F238E27FC236}">
                <a16:creationId xmlns:a16="http://schemas.microsoft.com/office/drawing/2014/main" id="{D9D99EE5-735E-4F83-9335-FA9E3244D23A}"/>
              </a:ext>
            </a:extLst>
          </p:cNvPr>
          <p:cNvSpPr>
            <a:spLocks xmlns:a="http://schemas.openxmlformats.org/drawingml/2006/main" noGrp="1"/>
          </p:cNvSpPr>
          <p:nvPr/>
        </p:nvSpPr>
        <p:spPr>
          <a:xfrm xmlns:a="http://schemas.openxmlformats.org/drawingml/2006/main">
            <a:off x="987552"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RAW</a:t>
            </a:r>
          </a:p>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DATA</a:t>
            </a:r>
          </a:p>
        </p:txBody>
      </p:sp>
      <p:cxnSp>
        <p:nvCxnSpPr>
          <p:cNvPr id="193" name="Google Shape;136;p9"/>
          <p:cNvCxnSpPr/>
          <p:nvPr/>
        </p:nvCxnSpPr>
        <p:spPr>
          <a:xfrm xmlns:a="http://schemas.openxmlformats.org/drawingml/2006/main">
            <a:off x="2697480" y="3044952"/>
            <a:ext cx="201168"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triangle" w="med" len="med"/>
          </a:ln>
        </p:spPr>
      </p:cxnSp>
      <p:sp>
        <p:nvSpPr>
          <p:cNvPr id="137" name="Google Shape;137;p9">
            <a:extLst xmlns:a="http://schemas.openxmlformats.org/drawingml/2006/main">
              <a:ext uri="{FF2B5EF4-FFF2-40B4-BE49-F238E27FC236}">
                <a16:creationId xmlns:a16="http://schemas.microsoft.com/office/drawing/2014/main" id="{C2A634DD-C8AD-4034-BE8E-DA6BF539D61E}"/>
              </a:ext>
            </a:extLst>
          </p:cNvPr>
          <p:cNvSpPr>
            <a:spLocks xmlns:a="http://schemas.openxmlformats.org/drawingml/2006/main" noGrp="1"/>
          </p:cNvSpPr>
          <p:nvPr/>
        </p:nvSpPr>
        <p:spPr>
          <a:xfrm xmlns:a="http://schemas.openxmlformats.org/drawingml/2006/main">
            <a:off x="2944368" y="2331720"/>
            <a:ext cx="1920240" cy="141732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38" name="Google Shape;138;p9">
            <a:extLst xmlns:a="http://schemas.openxmlformats.org/drawingml/2006/main">
              <a:ext uri="{FF2B5EF4-FFF2-40B4-BE49-F238E27FC236}">
                <a16:creationId xmlns:a16="http://schemas.microsoft.com/office/drawing/2014/main" id="{22B057D2-390A-45DB-A2D5-259FF67AFD1F}"/>
              </a:ext>
            </a:extLst>
          </p:cNvPr>
          <p:cNvSpPr>
            <a:spLocks xmlns:a="http://schemas.openxmlformats.org/drawingml/2006/main" noGrp="1"/>
          </p:cNvSpPr>
          <p:nvPr/>
        </p:nvSpPr>
        <p:spPr>
          <a:xfrm xmlns:a="http://schemas.openxmlformats.org/drawingml/2006/main">
            <a:off x="3081528"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2</a:t>
            </a:r>
          </a:p>
        </p:txBody>
      </p:sp>
      <p:sp>
        <p:nvSpPr>
          <p:cNvPr id="139" name="Google Shape;139;p9">
            <a:extLst xmlns:a="http://schemas.openxmlformats.org/drawingml/2006/main">
              <a:ext uri="{FF2B5EF4-FFF2-40B4-BE49-F238E27FC236}">
                <a16:creationId xmlns:a16="http://schemas.microsoft.com/office/drawing/2014/main" id="{F9338F32-CC14-4FF7-89BE-C0E930B6554C}"/>
              </a:ext>
            </a:extLst>
          </p:cNvPr>
          <p:cNvSpPr>
            <a:spLocks xmlns:a="http://schemas.openxmlformats.org/drawingml/2006/main" noGrp="1"/>
          </p:cNvSpPr>
          <p:nvPr/>
        </p:nvSpPr>
        <p:spPr>
          <a:xfrm xmlns:a="http://schemas.openxmlformats.org/drawingml/2006/main">
            <a:off x="3200400"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BACKUP</a:t>
            </a:r>
          </a:p>
        </p:txBody>
      </p:sp>
      <p:cxnSp>
        <p:nvCxnSpPr>
          <p:cNvPr id="197" name="Google Shape;140;p9"/>
          <p:cNvCxnSpPr/>
          <p:nvPr/>
        </p:nvCxnSpPr>
        <p:spPr>
          <a:xfrm xmlns:a="http://schemas.openxmlformats.org/drawingml/2006/main">
            <a:off x="4910328" y="3044952"/>
            <a:ext cx="201168"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triangle" w="med" len="med"/>
          </a:ln>
        </p:spPr>
      </p:cxnSp>
      <p:sp>
        <p:nvSpPr>
          <p:cNvPr id="141" name="Google Shape;141;p9">
            <a:extLst xmlns:a="http://schemas.openxmlformats.org/drawingml/2006/main">
              <a:ext uri="{FF2B5EF4-FFF2-40B4-BE49-F238E27FC236}">
                <a16:creationId xmlns:a16="http://schemas.microsoft.com/office/drawing/2014/main" id="{73CB8DD4-8874-48E4-8454-8326AC8B9CB4}"/>
              </a:ext>
            </a:extLst>
          </p:cNvPr>
          <p:cNvSpPr>
            <a:spLocks xmlns:a="http://schemas.openxmlformats.org/drawingml/2006/main" noGrp="1"/>
          </p:cNvSpPr>
          <p:nvPr/>
        </p:nvSpPr>
        <p:spPr>
          <a:xfrm xmlns:a="http://schemas.openxmlformats.org/drawingml/2006/main">
            <a:off x="5157216" y="2331720"/>
            <a:ext cx="1920240" cy="141732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2" name="Google Shape;142;p9">
            <a:extLst xmlns:a="http://schemas.openxmlformats.org/drawingml/2006/main">
              <a:ext uri="{FF2B5EF4-FFF2-40B4-BE49-F238E27FC236}">
                <a16:creationId xmlns:a16="http://schemas.microsoft.com/office/drawing/2014/main" id="{9F9BF4C6-F3AE-4D52-B9DF-81852B1B9FE1}"/>
              </a:ext>
            </a:extLst>
          </p:cNvPr>
          <p:cNvSpPr>
            <a:spLocks xmlns:a="http://schemas.openxmlformats.org/drawingml/2006/main" noGrp="1"/>
          </p:cNvSpPr>
          <p:nvPr/>
        </p:nvSpPr>
        <p:spPr>
          <a:xfrm xmlns:a="http://schemas.openxmlformats.org/drawingml/2006/main">
            <a:off x="5294376"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3</a:t>
            </a:r>
          </a:p>
        </p:txBody>
      </p:sp>
      <p:sp>
        <p:nvSpPr>
          <p:cNvPr id="143" name="Google Shape;143;p9">
            <a:extLst xmlns:a="http://schemas.openxmlformats.org/drawingml/2006/main">
              <a:ext uri="{FF2B5EF4-FFF2-40B4-BE49-F238E27FC236}">
                <a16:creationId xmlns:a16="http://schemas.microsoft.com/office/drawing/2014/main" id="{80D0CBBD-345B-4971-9164-0090A0FA5EDE}"/>
              </a:ext>
            </a:extLst>
          </p:cNvPr>
          <p:cNvSpPr>
            <a:spLocks xmlns:a="http://schemas.openxmlformats.org/drawingml/2006/main" noGrp="1"/>
          </p:cNvSpPr>
          <p:nvPr/>
        </p:nvSpPr>
        <p:spPr>
          <a:xfrm xmlns:a="http://schemas.openxmlformats.org/drawingml/2006/main">
            <a:off x="5413248"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WORKING</a:t>
            </a:r>
          </a:p>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COPY</a:t>
            </a:r>
          </a:p>
        </p:txBody>
      </p:sp>
      <p:cxnSp>
        <p:nvCxnSpPr>
          <p:cNvPr id="201" name="Google Shape;144;p9"/>
          <p:cNvCxnSpPr/>
          <p:nvPr/>
        </p:nvCxnSpPr>
        <p:spPr>
          <a:xfrm xmlns:a="http://schemas.openxmlformats.org/drawingml/2006/main">
            <a:off x="7123176" y="3044952"/>
            <a:ext cx="201168"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triangle" w="med" len="med"/>
          </a:ln>
        </p:spPr>
      </p:cxnSp>
      <p:sp>
        <p:nvSpPr>
          <p:cNvPr id="145" name="Google Shape;145;p9">
            <a:extLst xmlns:a="http://schemas.openxmlformats.org/drawingml/2006/main">
              <a:ext uri="{FF2B5EF4-FFF2-40B4-BE49-F238E27FC236}">
                <a16:creationId xmlns:a16="http://schemas.microsoft.com/office/drawing/2014/main" id="{1AC3F8A8-0B08-4AAA-B481-2104D8D7ED73}"/>
              </a:ext>
            </a:extLst>
          </p:cNvPr>
          <p:cNvSpPr>
            <a:spLocks xmlns:a="http://schemas.openxmlformats.org/drawingml/2006/main" noGrp="1"/>
          </p:cNvSpPr>
          <p:nvPr/>
        </p:nvSpPr>
        <p:spPr>
          <a:xfrm xmlns:a="http://schemas.openxmlformats.org/drawingml/2006/main">
            <a:off x="7370064" y="2331720"/>
            <a:ext cx="1920240" cy="141732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6" name="Google Shape;146;p9">
            <a:extLst xmlns:a="http://schemas.openxmlformats.org/drawingml/2006/main">
              <a:ext uri="{FF2B5EF4-FFF2-40B4-BE49-F238E27FC236}">
                <a16:creationId xmlns:a16="http://schemas.microsoft.com/office/drawing/2014/main" id="{3AE50ACF-371B-48D4-B9BB-344EE7483913}"/>
              </a:ext>
            </a:extLst>
          </p:cNvPr>
          <p:cNvSpPr>
            <a:spLocks xmlns:a="http://schemas.openxmlformats.org/drawingml/2006/main" noGrp="1"/>
          </p:cNvSpPr>
          <p:nvPr/>
        </p:nvSpPr>
        <p:spPr>
          <a:xfrm xmlns:a="http://schemas.openxmlformats.org/drawingml/2006/main">
            <a:off x="7507224"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4</a:t>
            </a:r>
          </a:p>
        </p:txBody>
      </p:sp>
      <p:sp>
        <p:nvSpPr>
          <p:cNvPr id="147" name="Google Shape;147;p9">
            <a:extLst xmlns:a="http://schemas.openxmlformats.org/drawingml/2006/main">
              <a:ext uri="{FF2B5EF4-FFF2-40B4-BE49-F238E27FC236}">
                <a16:creationId xmlns:a16="http://schemas.microsoft.com/office/drawing/2014/main" id="{F18ED01A-E624-48DD-8533-DD272E8BEF45}"/>
              </a:ext>
            </a:extLst>
          </p:cNvPr>
          <p:cNvSpPr>
            <a:spLocks xmlns:a="http://schemas.openxmlformats.org/drawingml/2006/main" noGrp="1"/>
          </p:cNvSpPr>
          <p:nvPr/>
        </p:nvSpPr>
        <p:spPr>
          <a:xfrm xmlns:a="http://schemas.openxmlformats.org/drawingml/2006/main">
            <a:off x="7626096"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CLEAN</a:t>
            </a:r>
          </a:p>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DATA</a:t>
            </a:r>
          </a:p>
        </p:txBody>
      </p:sp>
      <p:cxnSp>
        <p:nvCxnSpPr>
          <p:cNvPr id="205" name="Google Shape;148;p9"/>
          <p:cNvCxnSpPr/>
          <p:nvPr/>
        </p:nvCxnSpPr>
        <p:spPr>
          <a:xfrm xmlns:a="http://schemas.openxmlformats.org/drawingml/2006/main">
            <a:off x="9336024" y="3044952"/>
            <a:ext cx="201168"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triangle" w="med" len="med"/>
          </a:ln>
        </p:spPr>
      </p:cxnSp>
      <p:sp>
        <p:nvSpPr>
          <p:cNvPr id="149" name="Google Shape;149;p9">
            <a:extLst xmlns:a="http://schemas.openxmlformats.org/drawingml/2006/main">
              <a:ext uri="{FF2B5EF4-FFF2-40B4-BE49-F238E27FC236}">
                <a16:creationId xmlns:a16="http://schemas.microsoft.com/office/drawing/2014/main" id="{0FB48A3D-7E43-4657-B624-577D9FFD8ECE}"/>
              </a:ext>
            </a:extLst>
          </p:cNvPr>
          <p:cNvSpPr>
            <a:spLocks xmlns:a="http://schemas.openxmlformats.org/drawingml/2006/main" noGrp="1"/>
          </p:cNvSpPr>
          <p:nvPr/>
        </p:nvSpPr>
        <p:spPr>
          <a:xfrm xmlns:a="http://schemas.openxmlformats.org/drawingml/2006/main">
            <a:off x="9582912" y="2331720"/>
            <a:ext cx="1920240" cy="141732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0" name="Google Shape;150;p9">
            <a:extLst xmlns:a="http://schemas.openxmlformats.org/drawingml/2006/main">
              <a:ext uri="{FF2B5EF4-FFF2-40B4-BE49-F238E27FC236}">
                <a16:creationId xmlns:a16="http://schemas.microsoft.com/office/drawing/2014/main" id="{801F8EE6-A755-424D-ABC9-D24C54285A17}"/>
              </a:ext>
            </a:extLst>
          </p:cNvPr>
          <p:cNvSpPr>
            <a:spLocks xmlns:a="http://schemas.openxmlformats.org/drawingml/2006/main" noGrp="1"/>
          </p:cNvSpPr>
          <p:nvPr/>
        </p:nvSpPr>
        <p:spPr>
          <a:xfrm xmlns:a="http://schemas.openxmlformats.org/drawingml/2006/main">
            <a:off x="9720072"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5</a:t>
            </a:r>
          </a:p>
        </p:txBody>
      </p:sp>
      <p:sp>
        <p:nvSpPr>
          <p:cNvPr id="151" name="Google Shape;151;p9">
            <a:extLst xmlns:a="http://schemas.openxmlformats.org/drawingml/2006/main">
              <a:ext uri="{FF2B5EF4-FFF2-40B4-BE49-F238E27FC236}">
                <a16:creationId xmlns:a16="http://schemas.microsoft.com/office/drawing/2014/main" id="{563C78D6-0D81-4014-8FB2-01349F559A9D}"/>
              </a:ext>
            </a:extLst>
          </p:cNvPr>
          <p:cNvSpPr>
            <a:spLocks xmlns:a="http://schemas.openxmlformats.org/drawingml/2006/main" noGrp="1"/>
          </p:cNvSpPr>
          <p:nvPr/>
        </p:nvSpPr>
        <p:spPr>
          <a:xfrm xmlns:a="http://schemas.openxmlformats.org/drawingml/2006/main">
            <a:off x="9838944"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ANALYSIS</a:t>
            </a:r>
          </a:p>
        </p:txBody>
      </p:sp>
      <p:sp>
        <p:nvSpPr>
          <p:cNvPr id="152" name="Google Shape;152;p9">
            <a:extLst xmlns:a="http://schemas.openxmlformats.org/drawingml/2006/main">
              <a:ext uri="{FF2B5EF4-FFF2-40B4-BE49-F238E27FC236}">
                <a16:creationId xmlns:a16="http://schemas.microsoft.com/office/drawing/2014/main" id="{CF159CDB-9872-4009-B27B-642B57046B78}"/>
              </a:ext>
            </a:extLst>
          </p:cNvPr>
          <p:cNvSpPr>
            <a:spLocks xmlns:a="http://schemas.openxmlformats.org/drawingml/2006/main" noGrp="1"/>
          </p:cNvSpPr>
          <p:nvPr/>
        </p:nvSpPr>
        <p:spPr>
          <a:xfrm xmlns:a="http://schemas.openxmlformats.org/drawingml/2006/main">
            <a:off x="868680" y="4343400"/>
            <a:ext cx="5074920" cy="10972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3" name="Google Shape;153;p9">
            <a:extLst xmlns:a="http://schemas.openxmlformats.org/drawingml/2006/main">
              <a:ext uri="{FF2B5EF4-FFF2-40B4-BE49-F238E27FC236}">
                <a16:creationId xmlns:a16="http://schemas.microsoft.com/office/drawing/2014/main" id="{6AFC86BC-2EE3-4769-B3AB-171418A297B8}"/>
              </a:ext>
            </a:extLst>
          </p:cNvPr>
          <p:cNvSpPr>
            <a:spLocks xmlns:a="http://schemas.openxmlformats.org/drawingml/2006/main" noGrp="1"/>
          </p:cNvSpPr>
          <p:nvPr/>
        </p:nvSpPr>
        <p:spPr>
          <a:xfrm xmlns:a="http://schemas.openxmlformats.org/drawingml/2006/main">
            <a:off x="868680" y="4343400"/>
            <a:ext cx="73152" cy="109728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4" name="Google Shape;154;p9">
            <a:extLst xmlns:a="http://schemas.openxmlformats.org/drawingml/2006/main">
              <a:ext uri="{FF2B5EF4-FFF2-40B4-BE49-F238E27FC236}">
                <a16:creationId xmlns:a16="http://schemas.microsoft.com/office/drawing/2014/main" id="{1EE04112-A64D-429C-8CA2-3B7396BBBEB5}"/>
              </a:ext>
            </a:extLst>
          </p:cNvPr>
          <p:cNvSpPr>
            <a:spLocks xmlns:a="http://schemas.openxmlformats.org/drawingml/2006/main" noGrp="1"/>
          </p:cNvSpPr>
          <p:nvPr/>
        </p:nvSpPr>
        <p:spPr>
          <a:xfrm xmlns:a="http://schemas.openxmlformats.org/drawingml/2006/main">
            <a:off x="1069848" y="4507992"/>
            <a:ext cx="47548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RULE</a:t>
            </a:r>
          </a:p>
        </p:txBody>
      </p:sp>
      <p:sp>
        <p:nvSpPr>
          <p:cNvPr id="155" name="Google Shape;155;p9">
            <a:extLst xmlns:a="http://schemas.openxmlformats.org/drawingml/2006/main">
              <a:ext uri="{FF2B5EF4-FFF2-40B4-BE49-F238E27FC236}">
                <a16:creationId xmlns:a16="http://schemas.microsoft.com/office/drawing/2014/main" id="{82D7A505-0FBB-4E7E-A050-F9DBC965D9D1}"/>
              </a:ext>
            </a:extLst>
          </p:cNvPr>
          <p:cNvSpPr>
            <a:spLocks xmlns:a="http://schemas.openxmlformats.org/drawingml/2006/main" noGrp="1"/>
          </p:cNvSpPr>
          <p:nvPr/>
        </p:nvSpPr>
        <p:spPr>
          <a:xfrm xmlns:a="http://schemas.openxmlformats.org/drawingml/2006/main">
            <a:off x="1069848" y="4846320"/>
            <a:ext cx="475488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Never edit the only copy of your raw data.</a:t>
            </a:r>
          </a:p>
        </p:txBody>
      </p:sp>
      <p:sp>
        <p:nvSpPr>
          <p:cNvPr id="156" name="Google Shape;156;p9">
            <a:extLst xmlns:a="http://schemas.openxmlformats.org/drawingml/2006/main">
              <a:ext uri="{FF2B5EF4-FFF2-40B4-BE49-F238E27FC236}">
                <a16:creationId xmlns:a16="http://schemas.microsoft.com/office/drawing/2014/main" id="{EA430629-CF8B-456A-B4EF-EE34AF99D7C0}"/>
              </a:ext>
            </a:extLst>
          </p:cNvPr>
          <p:cNvSpPr>
            <a:spLocks xmlns:a="http://schemas.openxmlformats.org/drawingml/2006/main" noGrp="1"/>
          </p:cNvSpPr>
          <p:nvPr/>
        </p:nvSpPr>
        <p:spPr>
          <a:xfrm xmlns:a="http://schemas.openxmlformats.org/drawingml/2006/main">
            <a:off x="6217920" y="4343400"/>
            <a:ext cx="4937760" cy="10972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7" name="Google Shape;157;p9">
            <a:extLst xmlns:a="http://schemas.openxmlformats.org/drawingml/2006/main">
              <a:ext uri="{FF2B5EF4-FFF2-40B4-BE49-F238E27FC236}">
                <a16:creationId xmlns:a16="http://schemas.microsoft.com/office/drawing/2014/main" id="{02D1BE4B-5019-4C0E-8EB4-74BB250D8D6A}"/>
              </a:ext>
            </a:extLst>
          </p:cNvPr>
          <p:cNvSpPr>
            <a:spLocks xmlns:a="http://schemas.openxmlformats.org/drawingml/2006/main" noGrp="1"/>
          </p:cNvSpPr>
          <p:nvPr/>
        </p:nvSpPr>
        <p:spPr>
          <a:xfrm xmlns:a="http://schemas.openxmlformats.org/drawingml/2006/main">
            <a:off x="6217920" y="4343400"/>
            <a:ext cx="73152" cy="109728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8" name="Google Shape;158;p9">
            <a:extLst xmlns:a="http://schemas.openxmlformats.org/drawingml/2006/main">
              <a:ext uri="{FF2B5EF4-FFF2-40B4-BE49-F238E27FC236}">
                <a16:creationId xmlns:a16="http://schemas.microsoft.com/office/drawing/2014/main" id="{FBC35637-A7BB-4C48-B62A-EFD68D1A23C6}"/>
              </a:ext>
            </a:extLst>
          </p:cNvPr>
          <p:cNvSpPr>
            <a:spLocks xmlns:a="http://schemas.openxmlformats.org/drawingml/2006/main" noGrp="1"/>
          </p:cNvSpPr>
          <p:nvPr/>
        </p:nvSpPr>
        <p:spPr>
          <a:xfrm xmlns:a="http://schemas.openxmlformats.org/drawingml/2006/main">
            <a:off x="6419088" y="4507992"/>
            <a:ext cx="4617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QUESTION</a:t>
            </a:r>
          </a:p>
        </p:txBody>
      </p:sp>
      <p:sp>
        <p:nvSpPr>
          <p:cNvPr id="159" name="Google Shape;159;p9">
            <a:extLst xmlns:a="http://schemas.openxmlformats.org/drawingml/2006/main">
              <a:ext uri="{FF2B5EF4-FFF2-40B4-BE49-F238E27FC236}">
                <a16:creationId xmlns:a16="http://schemas.microsoft.com/office/drawing/2014/main" id="{06D86537-2094-4B10-9761-371296C43A43}"/>
              </a:ext>
            </a:extLst>
          </p:cNvPr>
          <p:cNvSpPr>
            <a:spLocks xmlns:a="http://schemas.openxmlformats.org/drawingml/2006/main" noGrp="1"/>
          </p:cNvSpPr>
          <p:nvPr/>
        </p:nvSpPr>
        <p:spPr>
          <a:xfrm xmlns:a="http://schemas.openxmlformats.org/drawingml/2006/main">
            <a:off x="6419088" y="4846320"/>
            <a:ext cx="461772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Can someone trace your final graph back to the original record?</a:t>
            </a:r>
          </a:p>
        </p:txBody>
      </p:sp>
    </p:spTree>
    <p:extLst>
      <p:ext uri="{BB962C8B-B14F-4D97-AF65-F5344CB8AC3E}">
        <p14:creationId xmlns:p14="http://schemas.microsoft.com/office/powerpoint/2010/main" val="842822971"/>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197" name="Google Shape;165;p10"/>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198" name="Google Shape;166;p10"/>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167" name="Google Shape;167;p10">
            <a:extLst xmlns:a="http://schemas.openxmlformats.org/drawingml/2006/main">
              <a:ext uri="{FF2B5EF4-FFF2-40B4-BE49-F238E27FC236}">
                <a16:creationId xmlns:a16="http://schemas.microsoft.com/office/drawing/2014/main" id="{F3BB5D38-12B0-4B6F-8F8A-C877E7D449A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168" name="Google Shape;168;p10">
            <a:extLst xmlns:a="http://schemas.openxmlformats.org/drawingml/2006/main">
              <a:ext uri="{FF2B5EF4-FFF2-40B4-BE49-F238E27FC236}">
                <a16:creationId xmlns:a16="http://schemas.microsoft.com/office/drawing/2014/main" id="{CBBE38DE-2B7E-4954-8C00-D35DEF5D3A92}"/>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169" name="Google Shape;169;p10">
            <a:extLst xmlns:a="http://schemas.openxmlformats.org/drawingml/2006/main">
              <a:ext uri="{FF2B5EF4-FFF2-40B4-BE49-F238E27FC236}">
                <a16:creationId xmlns:a16="http://schemas.microsoft.com/office/drawing/2014/main" id="{4B6A0E2C-70D7-4223-9AE4-132EB7080994}"/>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170" name="Google Shape;170;p10">
            <a:extLst xmlns:a="http://schemas.openxmlformats.org/drawingml/2006/main">
              <a:ext uri="{FF2B5EF4-FFF2-40B4-BE49-F238E27FC236}">
                <a16:creationId xmlns:a16="http://schemas.microsoft.com/office/drawing/2014/main" id="{1B18FF92-BB31-47AF-9B2B-46E65AEE5D31}"/>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What belongs in a clean data set?</a:t>
            </a:r>
          </a:p>
        </p:txBody>
      </p:sp>
      <p:cxnSp>
        <p:nvCxnSpPr>
          <p:cNvPr id="203" name="Google Shape;171;p10"/>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172" name="Google Shape;172;p10">
            <a:extLst xmlns:a="http://schemas.openxmlformats.org/drawingml/2006/main">
              <a:ext uri="{FF2B5EF4-FFF2-40B4-BE49-F238E27FC236}">
                <a16:creationId xmlns:a16="http://schemas.microsoft.com/office/drawing/2014/main" id="{EE016CE9-970B-45A8-B9FE-0354726D5917}"/>
              </a:ext>
            </a:extLst>
          </p:cNvPr>
          <p:cNvSpPr>
            <a:spLocks xmlns:a="http://schemas.openxmlformats.org/drawingml/2006/main" noGrp="1"/>
          </p:cNvSpPr>
          <p:nvPr/>
        </p:nvSpPr>
        <p:spPr>
          <a:xfrm xmlns:a="http://schemas.openxmlformats.org/drawingml/2006/main">
            <a:off x="777240" y="173736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73" name="Google Shape;173;p10">
            <a:extLst xmlns:a="http://schemas.openxmlformats.org/drawingml/2006/main">
              <a:ext uri="{FF2B5EF4-FFF2-40B4-BE49-F238E27FC236}">
                <a16:creationId xmlns:a16="http://schemas.microsoft.com/office/drawing/2014/main" id="{4B6F7B49-4685-44F5-AF82-52DEFA2F64C7}"/>
              </a:ext>
            </a:extLst>
          </p:cNvPr>
          <p:cNvSpPr>
            <a:spLocks xmlns:a="http://schemas.openxmlformats.org/drawingml/2006/main" noGrp="1"/>
          </p:cNvSpPr>
          <p:nvPr/>
        </p:nvSpPr>
        <p:spPr>
          <a:xfrm xmlns:a="http://schemas.openxmlformats.org/drawingml/2006/main">
            <a:off x="978408" y="190195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Trial / Sample #</a:t>
            </a:r>
          </a:p>
        </p:txBody>
      </p:sp>
      <p:sp>
        <p:nvSpPr>
          <p:cNvPr id="174" name="Google Shape;174;p10">
            <a:extLst xmlns:a="http://schemas.openxmlformats.org/drawingml/2006/main">
              <a:ext uri="{FF2B5EF4-FFF2-40B4-BE49-F238E27FC236}">
                <a16:creationId xmlns:a16="http://schemas.microsoft.com/office/drawing/2014/main" id="{4E4AC780-804B-4064-83BE-795AE92F0F4C}"/>
              </a:ext>
            </a:extLst>
          </p:cNvPr>
          <p:cNvSpPr>
            <a:spLocks xmlns:a="http://schemas.openxmlformats.org/drawingml/2006/main" noGrp="1"/>
          </p:cNvSpPr>
          <p:nvPr/>
        </p:nvSpPr>
        <p:spPr>
          <a:xfrm xmlns:a="http://schemas.openxmlformats.org/drawingml/2006/main">
            <a:off x="3291840" y="193852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Every row needs an identity</a:t>
            </a:r>
          </a:p>
        </p:txBody>
      </p:sp>
      <p:sp>
        <p:nvSpPr>
          <p:cNvPr id="175" name="Google Shape;175;p10">
            <a:extLst xmlns:a="http://schemas.openxmlformats.org/drawingml/2006/main">
              <a:ext uri="{FF2B5EF4-FFF2-40B4-BE49-F238E27FC236}">
                <a16:creationId xmlns:a16="http://schemas.microsoft.com/office/drawing/2014/main" id="{14A47CC0-3444-4152-9984-6FA517AA2264}"/>
              </a:ext>
            </a:extLst>
          </p:cNvPr>
          <p:cNvSpPr>
            <a:spLocks xmlns:a="http://schemas.openxmlformats.org/drawingml/2006/main" noGrp="1"/>
          </p:cNvSpPr>
          <p:nvPr/>
        </p:nvSpPr>
        <p:spPr>
          <a:xfrm xmlns:a="http://schemas.openxmlformats.org/drawingml/2006/main">
            <a:off x="6309360" y="173736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76" name="Google Shape;176;p10">
            <a:extLst xmlns:a="http://schemas.openxmlformats.org/drawingml/2006/main">
              <a:ext uri="{FF2B5EF4-FFF2-40B4-BE49-F238E27FC236}">
                <a16:creationId xmlns:a16="http://schemas.microsoft.com/office/drawing/2014/main" id="{B5DBB7E5-8503-4794-A83E-CACA252ACA4F}"/>
              </a:ext>
            </a:extLst>
          </p:cNvPr>
          <p:cNvSpPr>
            <a:spLocks xmlns:a="http://schemas.openxmlformats.org/drawingml/2006/main" noGrp="1"/>
          </p:cNvSpPr>
          <p:nvPr/>
        </p:nvSpPr>
        <p:spPr>
          <a:xfrm xmlns:a="http://schemas.openxmlformats.org/drawingml/2006/main">
            <a:off x="6510528" y="190195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Condition</a:t>
            </a:r>
          </a:p>
        </p:txBody>
      </p:sp>
      <p:sp>
        <p:nvSpPr>
          <p:cNvPr id="177" name="Google Shape;177;p10">
            <a:extLst xmlns:a="http://schemas.openxmlformats.org/drawingml/2006/main">
              <a:ext uri="{FF2B5EF4-FFF2-40B4-BE49-F238E27FC236}">
                <a16:creationId xmlns:a16="http://schemas.microsoft.com/office/drawing/2014/main" id="{A24E6F23-E506-4738-96D0-FDC542903514}"/>
              </a:ext>
            </a:extLst>
          </p:cNvPr>
          <p:cNvSpPr>
            <a:spLocks xmlns:a="http://schemas.openxmlformats.org/drawingml/2006/main" noGrp="1"/>
          </p:cNvSpPr>
          <p:nvPr/>
        </p:nvSpPr>
        <p:spPr>
          <a:xfrm xmlns:a="http://schemas.openxmlformats.org/drawingml/2006/main">
            <a:off x="8823960" y="193852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What group, version, or variable level?</a:t>
            </a:r>
          </a:p>
        </p:txBody>
      </p:sp>
      <p:sp>
        <p:nvSpPr>
          <p:cNvPr id="178" name="Google Shape;178;p10">
            <a:extLst xmlns:a="http://schemas.openxmlformats.org/drawingml/2006/main">
              <a:ext uri="{FF2B5EF4-FFF2-40B4-BE49-F238E27FC236}">
                <a16:creationId xmlns:a16="http://schemas.microsoft.com/office/drawing/2014/main" id="{482C934A-C580-400E-9FC8-562EE252BCBA}"/>
              </a:ext>
            </a:extLst>
          </p:cNvPr>
          <p:cNvSpPr>
            <a:spLocks xmlns:a="http://schemas.openxmlformats.org/drawingml/2006/main" noGrp="1"/>
          </p:cNvSpPr>
          <p:nvPr/>
        </p:nvSpPr>
        <p:spPr>
          <a:xfrm xmlns:a="http://schemas.openxmlformats.org/drawingml/2006/main">
            <a:off x="777240" y="306324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79" name="Google Shape;179;p10">
            <a:extLst xmlns:a="http://schemas.openxmlformats.org/drawingml/2006/main">
              <a:ext uri="{FF2B5EF4-FFF2-40B4-BE49-F238E27FC236}">
                <a16:creationId xmlns:a16="http://schemas.microsoft.com/office/drawing/2014/main" id="{9F5F5CA9-0B6C-40F2-B809-809CE839FAE7}"/>
              </a:ext>
            </a:extLst>
          </p:cNvPr>
          <p:cNvSpPr>
            <a:spLocks xmlns:a="http://schemas.openxmlformats.org/drawingml/2006/main" noGrp="1"/>
          </p:cNvSpPr>
          <p:nvPr/>
        </p:nvSpPr>
        <p:spPr>
          <a:xfrm xmlns:a="http://schemas.openxmlformats.org/drawingml/2006/main">
            <a:off x="978408" y="322783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Measurement</a:t>
            </a:r>
          </a:p>
        </p:txBody>
      </p:sp>
      <p:sp>
        <p:nvSpPr>
          <p:cNvPr id="180" name="Google Shape;180;p10">
            <a:extLst xmlns:a="http://schemas.openxmlformats.org/drawingml/2006/main">
              <a:ext uri="{FF2B5EF4-FFF2-40B4-BE49-F238E27FC236}">
                <a16:creationId xmlns:a16="http://schemas.microsoft.com/office/drawing/2014/main" id="{697B2B60-F767-49DF-B87A-CF6DFD1E70F4}"/>
              </a:ext>
            </a:extLst>
          </p:cNvPr>
          <p:cNvSpPr>
            <a:spLocks xmlns:a="http://schemas.openxmlformats.org/drawingml/2006/main" noGrp="1"/>
          </p:cNvSpPr>
          <p:nvPr/>
        </p:nvSpPr>
        <p:spPr>
          <a:xfrm xmlns:a="http://schemas.openxmlformats.org/drawingml/2006/main">
            <a:off x="3291840" y="326440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Raw value first</a:t>
            </a:r>
          </a:p>
        </p:txBody>
      </p:sp>
      <p:sp>
        <p:nvSpPr>
          <p:cNvPr id="181" name="Google Shape;181;p10">
            <a:extLst xmlns:a="http://schemas.openxmlformats.org/drawingml/2006/main">
              <a:ext uri="{FF2B5EF4-FFF2-40B4-BE49-F238E27FC236}">
                <a16:creationId xmlns:a16="http://schemas.microsoft.com/office/drawing/2014/main" id="{EBD0E438-0635-4E8C-8BA3-42B1416ADA08}"/>
              </a:ext>
            </a:extLst>
          </p:cNvPr>
          <p:cNvSpPr>
            <a:spLocks xmlns:a="http://schemas.openxmlformats.org/drawingml/2006/main" noGrp="1"/>
          </p:cNvSpPr>
          <p:nvPr/>
        </p:nvSpPr>
        <p:spPr>
          <a:xfrm xmlns:a="http://schemas.openxmlformats.org/drawingml/2006/main">
            <a:off x="6309360" y="306324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2" name="Google Shape;182;p10">
            <a:extLst xmlns:a="http://schemas.openxmlformats.org/drawingml/2006/main">
              <a:ext uri="{FF2B5EF4-FFF2-40B4-BE49-F238E27FC236}">
                <a16:creationId xmlns:a16="http://schemas.microsoft.com/office/drawing/2014/main" id="{978BD2FC-31F1-4700-B86B-E33F3C6F6DB6}"/>
              </a:ext>
            </a:extLst>
          </p:cNvPr>
          <p:cNvSpPr>
            <a:spLocks xmlns:a="http://schemas.openxmlformats.org/drawingml/2006/main" noGrp="1"/>
          </p:cNvSpPr>
          <p:nvPr/>
        </p:nvSpPr>
        <p:spPr>
          <a:xfrm xmlns:a="http://schemas.openxmlformats.org/drawingml/2006/main">
            <a:off x="6510528" y="322783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Units</a:t>
            </a:r>
          </a:p>
        </p:txBody>
      </p:sp>
      <p:sp>
        <p:nvSpPr>
          <p:cNvPr id="183" name="Google Shape;183;p10">
            <a:extLst xmlns:a="http://schemas.openxmlformats.org/drawingml/2006/main">
              <a:ext uri="{FF2B5EF4-FFF2-40B4-BE49-F238E27FC236}">
                <a16:creationId xmlns:a16="http://schemas.microsoft.com/office/drawing/2014/main" id="{71E62142-B468-4473-9418-AB3B92AEC946}"/>
              </a:ext>
            </a:extLst>
          </p:cNvPr>
          <p:cNvSpPr>
            <a:spLocks xmlns:a="http://schemas.openxmlformats.org/drawingml/2006/main" noGrp="1"/>
          </p:cNvSpPr>
          <p:nvPr/>
        </p:nvSpPr>
        <p:spPr>
          <a:xfrm xmlns:a="http://schemas.openxmlformats.org/drawingml/2006/main">
            <a:off x="8823960" y="326440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cm, g, V, s, °C, etc.</a:t>
            </a:r>
          </a:p>
        </p:txBody>
      </p:sp>
      <p:sp>
        <p:nvSpPr>
          <p:cNvPr id="184" name="Google Shape;184;p10">
            <a:extLst xmlns:a="http://schemas.openxmlformats.org/drawingml/2006/main">
              <a:ext uri="{FF2B5EF4-FFF2-40B4-BE49-F238E27FC236}">
                <a16:creationId xmlns:a16="http://schemas.microsoft.com/office/drawing/2014/main" id="{428074FA-F6E0-432A-B4DF-C8D4A795E83F}"/>
              </a:ext>
            </a:extLst>
          </p:cNvPr>
          <p:cNvSpPr>
            <a:spLocks xmlns:a="http://schemas.openxmlformats.org/drawingml/2006/main" noGrp="1"/>
          </p:cNvSpPr>
          <p:nvPr/>
        </p:nvSpPr>
        <p:spPr>
          <a:xfrm xmlns:a="http://schemas.openxmlformats.org/drawingml/2006/main">
            <a:off x="777240" y="438912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5" name="Google Shape;185;p10">
            <a:extLst xmlns:a="http://schemas.openxmlformats.org/drawingml/2006/main">
              <a:ext uri="{FF2B5EF4-FFF2-40B4-BE49-F238E27FC236}">
                <a16:creationId xmlns:a16="http://schemas.microsoft.com/office/drawing/2014/main" id="{DE2D92B2-D91E-46C6-9B91-5AB89EE5FAAC}"/>
              </a:ext>
            </a:extLst>
          </p:cNvPr>
          <p:cNvSpPr>
            <a:spLocks xmlns:a="http://schemas.openxmlformats.org/drawingml/2006/main" noGrp="1"/>
          </p:cNvSpPr>
          <p:nvPr/>
        </p:nvSpPr>
        <p:spPr>
          <a:xfrm xmlns:a="http://schemas.openxmlformats.org/drawingml/2006/main">
            <a:off x="978408" y="455371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Date / Session</a:t>
            </a:r>
          </a:p>
        </p:txBody>
      </p:sp>
      <p:sp>
        <p:nvSpPr>
          <p:cNvPr id="186" name="Google Shape;186;p10">
            <a:extLst xmlns:a="http://schemas.openxmlformats.org/drawingml/2006/main">
              <a:ext uri="{FF2B5EF4-FFF2-40B4-BE49-F238E27FC236}">
                <a16:creationId xmlns:a16="http://schemas.microsoft.com/office/drawing/2014/main" id="{48051BCE-E430-4F7A-87C1-AC79C5EEDF08}"/>
              </a:ext>
            </a:extLst>
          </p:cNvPr>
          <p:cNvSpPr>
            <a:spLocks xmlns:a="http://schemas.openxmlformats.org/drawingml/2006/main" noGrp="1"/>
          </p:cNvSpPr>
          <p:nvPr/>
        </p:nvSpPr>
        <p:spPr>
          <a:xfrm xmlns:a="http://schemas.openxmlformats.org/drawingml/2006/main">
            <a:off x="3291840" y="459028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When was it collected?</a:t>
            </a:r>
          </a:p>
        </p:txBody>
      </p:sp>
      <p:sp>
        <p:nvSpPr>
          <p:cNvPr id="187" name="Google Shape;187;p10">
            <a:extLst xmlns:a="http://schemas.openxmlformats.org/drawingml/2006/main">
              <a:ext uri="{FF2B5EF4-FFF2-40B4-BE49-F238E27FC236}">
                <a16:creationId xmlns:a16="http://schemas.microsoft.com/office/drawing/2014/main" id="{524744A0-8AB9-4D8F-8DEE-0DE765CC6E5A}"/>
              </a:ext>
            </a:extLst>
          </p:cNvPr>
          <p:cNvSpPr>
            <a:spLocks xmlns:a="http://schemas.openxmlformats.org/drawingml/2006/main" noGrp="1"/>
          </p:cNvSpPr>
          <p:nvPr/>
        </p:nvSpPr>
        <p:spPr>
          <a:xfrm xmlns:a="http://schemas.openxmlformats.org/drawingml/2006/main">
            <a:off x="6309360" y="438912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8" name="Google Shape;188;p10">
            <a:extLst xmlns:a="http://schemas.openxmlformats.org/drawingml/2006/main">
              <a:ext uri="{FF2B5EF4-FFF2-40B4-BE49-F238E27FC236}">
                <a16:creationId xmlns:a16="http://schemas.microsoft.com/office/drawing/2014/main" id="{2E48BC01-E20B-4FC1-9883-6C2C3D7F1D85}"/>
              </a:ext>
            </a:extLst>
          </p:cNvPr>
          <p:cNvSpPr>
            <a:spLocks xmlns:a="http://schemas.openxmlformats.org/drawingml/2006/main" noGrp="1"/>
          </p:cNvSpPr>
          <p:nvPr/>
        </p:nvSpPr>
        <p:spPr>
          <a:xfrm xmlns:a="http://schemas.openxmlformats.org/drawingml/2006/main">
            <a:off x="6510528" y="455371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Notes / Flags</a:t>
            </a:r>
          </a:p>
        </p:txBody>
      </p:sp>
      <p:sp>
        <p:nvSpPr>
          <p:cNvPr id="189" name="Google Shape;189;p10">
            <a:extLst xmlns:a="http://schemas.openxmlformats.org/drawingml/2006/main">
              <a:ext uri="{FF2B5EF4-FFF2-40B4-BE49-F238E27FC236}">
                <a16:creationId xmlns:a16="http://schemas.microsoft.com/office/drawing/2014/main" id="{D1EF4CCA-66C8-4EEF-9235-852D928406A2}"/>
              </a:ext>
            </a:extLst>
          </p:cNvPr>
          <p:cNvSpPr>
            <a:spLocks xmlns:a="http://schemas.openxmlformats.org/drawingml/2006/main" noGrp="1"/>
          </p:cNvSpPr>
          <p:nvPr/>
        </p:nvSpPr>
        <p:spPr>
          <a:xfrm xmlns:a="http://schemas.openxmlformats.org/drawingml/2006/main">
            <a:off x="8823960" y="459028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Unusual events, failed trials, comments</a:t>
            </a:r>
          </a:p>
        </p:txBody>
      </p:sp>
    </p:spTree>
    <p:extLst>
      <p:ext uri="{BB962C8B-B14F-4D97-AF65-F5344CB8AC3E}">
        <p14:creationId xmlns:p14="http://schemas.microsoft.com/office/powerpoint/2010/main" val="488810168"/>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26" name="Google Shape;195;p11"/>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227" name="Google Shape;196;p11"/>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197" name="Google Shape;197;p11">
            <a:extLst xmlns:a="http://schemas.openxmlformats.org/drawingml/2006/main">
              <a:ext uri="{FF2B5EF4-FFF2-40B4-BE49-F238E27FC236}">
                <a16:creationId xmlns:a16="http://schemas.microsoft.com/office/drawing/2014/main" id="{048543A8-B899-474F-AA27-E568DF51C51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198" name="Google Shape;198;p11">
            <a:extLst xmlns:a="http://schemas.openxmlformats.org/drawingml/2006/main">
              <a:ext uri="{FF2B5EF4-FFF2-40B4-BE49-F238E27FC236}">
                <a16:creationId xmlns:a16="http://schemas.microsoft.com/office/drawing/2014/main" id="{03DD1F50-2620-4196-B7F1-8B075D130F6D}"/>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199" name="Google Shape;199;p11">
            <a:extLst xmlns:a="http://schemas.openxmlformats.org/drawingml/2006/main">
              <a:ext uri="{FF2B5EF4-FFF2-40B4-BE49-F238E27FC236}">
                <a16:creationId xmlns:a16="http://schemas.microsoft.com/office/drawing/2014/main" id="{E3DA2CEA-CA36-4742-9911-CA9ED0E42DE8}"/>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200" name="Google Shape;200;p11">
            <a:extLst xmlns:a="http://schemas.openxmlformats.org/drawingml/2006/main">
              <a:ext uri="{FF2B5EF4-FFF2-40B4-BE49-F238E27FC236}">
                <a16:creationId xmlns:a16="http://schemas.microsoft.com/office/drawing/2014/main" id="{61803D94-C40D-49EA-A859-E46252A3FE94}"/>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Preserve before you clean</a:t>
            </a:r>
          </a:p>
        </p:txBody>
      </p:sp>
      <p:cxnSp>
        <p:nvCxnSpPr>
          <p:cNvPr id="232" name="Google Shape;201;p11"/>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202" name="Google Shape;202;p11">
            <a:extLst xmlns:a="http://schemas.openxmlformats.org/drawingml/2006/main">
              <a:ext uri="{FF2B5EF4-FFF2-40B4-BE49-F238E27FC236}">
                <a16:creationId xmlns:a16="http://schemas.microsoft.com/office/drawing/2014/main" id="{113A004C-2A73-4820-9419-38024CC3D133}"/>
              </a:ext>
            </a:extLst>
          </p:cNvPr>
          <p:cNvSpPr>
            <a:spLocks xmlns:a="http://schemas.openxmlformats.org/drawingml/2006/main" noGrp="1"/>
          </p:cNvSpPr>
          <p:nvPr/>
        </p:nvSpPr>
        <p:spPr>
          <a:xfrm xmlns:a="http://schemas.openxmlformats.org/drawingml/2006/main">
            <a:off x="777240" y="1874520"/>
            <a:ext cx="5120640" cy="11430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3" name="Google Shape;203;p11">
            <a:extLst xmlns:a="http://schemas.openxmlformats.org/drawingml/2006/main">
              <a:ext uri="{FF2B5EF4-FFF2-40B4-BE49-F238E27FC236}">
                <a16:creationId xmlns:a16="http://schemas.microsoft.com/office/drawing/2014/main" id="{A44D77A0-B94B-448B-B4B5-45949894BCD4}"/>
              </a:ext>
            </a:extLst>
          </p:cNvPr>
          <p:cNvSpPr>
            <a:spLocks xmlns:a="http://schemas.openxmlformats.org/drawingml/2006/main" noGrp="1"/>
          </p:cNvSpPr>
          <p:nvPr/>
        </p:nvSpPr>
        <p:spPr>
          <a:xfrm xmlns:a="http://schemas.openxmlformats.org/drawingml/2006/main">
            <a:off x="777240" y="1874520"/>
            <a:ext cx="73152" cy="114300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4" name="Google Shape;204;p11">
            <a:extLst xmlns:a="http://schemas.openxmlformats.org/drawingml/2006/main">
              <a:ext uri="{FF2B5EF4-FFF2-40B4-BE49-F238E27FC236}">
                <a16:creationId xmlns:a16="http://schemas.microsoft.com/office/drawing/2014/main" id="{99C1CE73-B160-4558-9AA7-52095518433D}"/>
              </a:ext>
            </a:extLst>
          </p:cNvPr>
          <p:cNvSpPr>
            <a:spLocks xmlns:a="http://schemas.openxmlformats.org/drawingml/2006/main" noGrp="1"/>
          </p:cNvSpPr>
          <p:nvPr/>
        </p:nvSpPr>
        <p:spPr>
          <a:xfrm xmlns:a="http://schemas.openxmlformats.org/drawingml/2006/main">
            <a:off x="978408" y="2039112"/>
            <a:ext cx="4800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STEP 1</a:t>
            </a:r>
          </a:p>
        </p:txBody>
      </p:sp>
      <p:sp>
        <p:nvSpPr>
          <p:cNvPr id="205" name="Google Shape;205;p11">
            <a:extLst xmlns:a="http://schemas.openxmlformats.org/drawingml/2006/main">
              <a:ext uri="{FF2B5EF4-FFF2-40B4-BE49-F238E27FC236}">
                <a16:creationId xmlns:a16="http://schemas.microsoft.com/office/drawing/2014/main" id="{F29665E0-63B5-4243-AA1C-D7E56DECD91E}"/>
              </a:ext>
            </a:extLst>
          </p:cNvPr>
          <p:cNvSpPr>
            <a:spLocks xmlns:a="http://schemas.openxmlformats.org/drawingml/2006/main" noGrp="1"/>
          </p:cNvSpPr>
          <p:nvPr/>
        </p:nvSpPr>
        <p:spPr>
          <a:xfrm xmlns:a="http://schemas.openxmlformats.org/drawingml/2006/main">
            <a:off x="978408" y="2377440"/>
            <a:ext cx="480060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Make a copy of the raw data file or preserve notebook pages with photos/scans.</a:t>
            </a:r>
          </a:p>
        </p:txBody>
      </p:sp>
      <p:sp>
        <p:nvSpPr>
          <p:cNvPr id="206" name="Google Shape;206;p11">
            <a:extLst xmlns:a="http://schemas.openxmlformats.org/drawingml/2006/main">
              <a:ext uri="{FF2B5EF4-FFF2-40B4-BE49-F238E27FC236}">
                <a16:creationId xmlns:a16="http://schemas.microsoft.com/office/drawing/2014/main" id="{E7A4227C-6CBF-4288-AC75-0C1DA7B192A4}"/>
              </a:ext>
            </a:extLst>
          </p:cNvPr>
          <p:cNvSpPr>
            <a:spLocks xmlns:a="http://schemas.openxmlformats.org/drawingml/2006/main" noGrp="1"/>
          </p:cNvSpPr>
          <p:nvPr/>
        </p:nvSpPr>
        <p:spPr>
          <a:xfrm xmlns:a="http://schemas.openxmlformats.org/drawingml/2006/main">
            <a:off x="6309360" y="1874520"/>
            <a:ext cx="4983480" cy="11430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7" name="Google Shape;207;p11">
            <a:extLst xmlns:a="http://schemas.openxmlformats.org/drawingml/2006/main">
              <a:ext uri="{FF2B5EF4-FFF2-40B4-BE49-F238E27FC236}">
                <a16:creationId xmlns:a16="http://schemas.microsoft.com/office/drawing/2014/main" id="{A95AFE11-06E7-4BD8-AE9A-CDF736BAC3E5}"/>
              </a:ext>
            </a:extLst>
          </p:cNvPr>
          <p:cNvSpPr>
            <a:spLocks xmlns:a="http://schemas.openxmlformats.org/drawingml/2006/main" noGrp="1"/>
          </p:cNvSpPr>
          <p:nvPr/>
        </p:nvSpPr>
        <p:spPr>
          <a:xfrm xmlns:a="http://schemas.openxmlformats.org/drawingml/2006/main">
            <a:off x="6309360" y="1874520"/>
            <a:ext cx="73152" cy="114300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8" name="Google Shape;208;p11">
            <a:extLst xmlns:a="http://schemas.openxmlformats.org/drawingml/2006/main">
              <a:ext uri="{FF2B5EF4-FFF2-40B4-BE49-F238E27FC236}">
                <a16:creationId xmlns:a16="http://schemas.microsoft.com/office/drawing/2014/main" id="{A8C9F029-86F7-4C3F-98D3-08DC33BDB732}"/>
              </a:ext>
            </a:extLst>
          </p:cNvPr>
          <p:cNvSpPr>
            <a:spLocks xmlns:a="http://schemas.openxmlformats.org/drawingml/2006/main" noGrp="1"/>
          </p:cNvSpPr>
          <p:nvPr/>
        </p:nvSpPr>
        <p:spPr>
          <a:xfrm xmlns:a="http://schemas.openxmlformats.org/drawingml/2006/main">
            <a:off x="6510528" y="2039112"/>
            <a:ext cx="46634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STEP 2</a:t>
            </a:r>
          </a:p>
        </p:txBody>
      </p:sp>
      <p:sp>
        <p:nvSpPr>
          <p:cNvPr id="209" name="Google Shape;209;p11">
            <a:extLst xmlns:a="http://schemas.openxmlformats.org/drawingml/2006/main">
              <a:ext uri="{FF2B5EF4-FFF2-40B4-BE49-F238E27FC236}">
                <a16:creationId xmlns:a16="http://schemas.microsoft.com/office/drawing/2014/main" id="{FCEECB91-1026-4C14-B76E-6E1837D96E29}"/>
              </a:ext>
            </a:extLst>
          </p:cNvPr>
          <p:cNvSpPr>
            <a:spLocks xmlns:a="http://schemas.openxmlformats.org/drawingml/2006/main" noGrp="1"/>
          </p:cNvSpPr>
          <p:nvPr/>
        </p:nvSpPr>
        <p:spPr>
          <a:xfrm xmlns:a="http://schemas.openxmlformats.org/drawingml/2006/main">
            <a:off x="6510528" y="2377440"/>
            <a:ext cx="466344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Name the copy clearly so everyone knows it is the version for cleaning and analysis.</a:t>
            </a:r>
          </a:p>
        </p:txBody>
      </p:sp>
      <p:sp>
        <p:nvSpPr>
          <p:cNvPr id="210" name="Google Shape;210;p11">
            <a:extLst xmlns:a="http://schemas.openxmlformats.org/drawingml/2006/main">
              <a:ext uri="{FF2B5EF4-FFF2-40B4-BE49-F238E27FC236}">
                <a16:creationId xmlns:a16="http://schemas.microsoft.com/office/drawing/2014/main" id="{15D36417-61A6-4735-9B7B-98B77C36D2A7}"/>
              </a:ext>
            </a:extLst>
          </p:cNvPr>
          <p:cNvSpPr>
            <a:spLocks xmlns:a="http://schemas.openxmlformats.org/drawingml/2006/main" noGrp="1"/>
          </p:cNvSpPr>
          <p:nvPr/>
        </p:nvSpPr>
        <p:spPr>
          <a:xfrm xmlns:a="http://schemas.openxmlformats.org/drawingml/2006/main">
            <a:off x="777240" y="3429000"/>
            <a:ext cx="5120640" cy="11430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1" name="Google Shape;211;p11">
            <a:extLst xmlns:a="http://schemas.openxmlformats.org/drawingml/2006/main">
              <a:ext uri="{FF2B5EF4-FFF2-40B4-BE49-F238E27FC236}">
                <a16:creationId xmlns:a16="http://schemas.microsoft.com/office/drawing/2014/main" id="{C558E0AB-8A5F-4DC7-8484-8A133B2DDE42}"/>
              </a:ext>
            </a:extLst>
          </p:cNvPr>
          <p:cNvSpPr>
            <a:spLocks xmlns:a="http://schemas.openxmlformats.org/drawingml/2006/main" noGrp="1"/>
          </p:cNvSpPr>
          <p:nvPr/>
        </p:nvSpPr>
        <p:spPr>
          <a:xfrm xmlns:a="http://schemas.openxmlformats.org/drawingml/2006/main">
            <a:off x="777240" y="3429000"/>
            <a:ext cx="73152" cy="114300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2" name="Google Shape;212;p11">
            <a:extLst xmlns:a="http://schemas.openxmlformats.org/drawingml/2006/main">
              <a:ext uri="{FF2B5EF4-FFF2-40B4-BE49-F238E27FC236}">
                <a16:creationId xmlns:a16="http://schemas.microsoft.com/office/drawing/2014/main" id="{D7E7900A-189A-4DE0-9616-5E5DF5082397}"/>
              </a:ext>
            </a:extLst>
          </p:cNvPr>
          <p:cNvSpPr>
            <a:spLocks xmlns:a="http://schemas.openxmlformats.org/drawingml/2006/main" noGrp="1"/>
          </p:cNvSpPr>
          <p:nvPr/>
        </p:nvSpPr>
        <p:spPr>
          <a:xfrm xmlns:a="http://schemas.openxmlformats.org/drawingml/2006/main">
            <a:off x="978408" y="3593592"/>
            <a:ext cx="4800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STEP 3</a:t>
            </a:r>
          </a:p>
        </p:txBody>
      </p:sp>
      <p:sp>
        <p:nvSpPr>
          <p:cNvPr id="213" name="Google Shape;213;p11">
            <a:extLst xmlns:a="http://schemas.openxmlformats.org/drawingml/2006/main">
              <a:ext uri="{FF2B5EF4-FFF2-40B4-BE49-F238E27FC236}">
                <a16:creationId xmlns:a16="http://schemas.microsoft.com/office/drawing/2014/main" id="{631481A8-9EE7-4B00-A279-E7A11A4B8041}"/>
              </a:ext>
            </a:extLst>
          </p:cNvPr>
          <p:cNvSpPr>
            <a:spLocks xmlns:a="http://schemas.openxmlformats.org/drawingml/2006/main" noGrp="1"/>
          </p:cNvSpPr>
          <p:nvPr/>
        </p:nvSpPr>
        <p:spPr>
          <a:xfrm xmlns:a="http://schemas.openxmlformats.org/drawingml/2006/main">
            <a:off x="978408" y="3931920"/>
            <a:ext cx="480060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Record what you changed in a cleaning decision log.</a:t>
            </a:r>
          </a:p>
        </p:txBody>
      </p:sp>
      <p:sp>
        <p:nvSpPr>
          <p:cNvPr id="214" name="Google Shape;214;p11">
            <a:extLst xmlns:a="http://schemas.openxmlformats.org/drawingml/2006/main">
              <a:ext uri="{FF2B5EF4-FFF2-40B4-BE49-F238E27FC236}">
                <a16:creationId xmlns:a16="http://schemas.microsoft.com/office/drawing/2014/main" id="{3DB0CC24-69E0-4535-B194-89164F810E89}"/>
              </a:ext>
            </a:extLst>
          </p:cNvPr>
          <p:cNvSpPr>
            <a:spLocks xmlns:a="http://schemas.openxmlformats.org/drawingml/2006/main" noGrp="1"/>
          </p:cNvSpPr>
          <p:nvPr/>
        </p:nvSpPr>
        <p:spPr>
          <a:xfrm xmlns:a="http://schemas.openxmlformats.org/drawingml/2006/main">
            <a:off x="6309360" y="3429000"/>
            <a:ext cx="4983480" cy="11430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5" name="Google Shape;215;p11">
            <a:extLst xmlns:a="http://schemas.openxmlformats.org/drawingml/2006/main">
              <a:ext uri="{FF2B5EF4-FFF2-40B4-BE49-F238E27FC236}">
                <a16:creationId xmlns:a16="http://schemas.microsoft.com/office/drawing/2014/main" id="{88C39CF7-1E7F-4035-A797-1BD2D6B69119}"/>
              </a:ext>
            </a:extLst>
          </p:cNvPr>
          <p:cNvSpPr>
            <a:spLocks xmlns:a="http://schemas.openxmlformats.org/drawingml/2006/main" noGrp="1"/>
          </p:cNvSpPr>
          <p:nvPr/>
        </p:nvSpPr>
        <p:spPr>
          <a:xfrm xmlns:a="http://schemas.openxmlformats.org/drawingml/2006/main">
            <a:off x="6309360" y="3429000"/>
            <a:ext cx="73152" cy="114300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6" name="Google Shape;216;p11">
            <a:extLst xmlns:a="http://schemas.openxmlformats.org/drawingml/2006/main">
              <a:ext uri="{FF2B5EF4-FFF2-40B4-BE49-F238E27FC236}">
                <a16:creationId xmlns:a16="http://schemas.microsoft.com/office/drawing/2014/main" id="{C63FD55F-2D53-4A31-B3F0-F33D692C6148}"/>
              </a:ext>
            </a:extLst>
          </p:cNvPr>
          <p:cNvSpPr>
            <a:spLocks xmlns:a="http://schemas.openxmlformats.org/drawingml/2006/main" noGrp="1"/>
          </p:cNvSpPr>
          <p:nvPr/>
        </p:nvSpPr>
        <p:spPr>
          <a:xfrm xmlns:a="http://schemas.openxmlformats.org/drawingml/2006/main">
            <a:off x="6510528" y="3593592"/>
            <a:ext cx="46634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STEP 4</a:t>
            </a:r>
          </a:p>
        </p:txBody>
      </p:sp>
      <p:sp>
        <p:nvSpPr>
          <p:cNvPr id="217" name="Google Shape;217;p11">
            <a:extLst xmlns:a="http://schemas.openxmlformats.org/drawingml/2006/main">
              <a:ext uri="{FF2B5EF4-FFF2-40B4-BE49-F238E27FC236}">
                <a16:creationId xmlns:a16="http://schemas.microsoft.com/office/drawing/2014/main" id="{2DA16352-D19D-44EE-90EE-D1D73572D29B}"/>
              </a:ext>
            </a:extLst>
          </p:cNvPr>
          <p:cNvSpPr>
            <a:spLocks xmlns:a="http://schemas.openxmlformats.org/drawingml/2006/main" noGrp="1"/>
          </p:cNvSpPr>
          <p:nvPr/>
        </p:nvSpPr>
        <p:spPr>
          <a:xfrm xmlns:a="http://schemas.openxmlformats.org/drawingml/2006/main">
            <a:off x="6510528" y="3931920"/>
            <a:ext cx="466344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Keep questionable data visible with flags or notes instead of deleting it.</a:t>
            </a:r>
          </a:p>
        </p:txBody>
      </p:sp>
      <p:sp>
        <p:nvSpPr>
          <p:cNvPr id="218" name="Google Shape;218;p11">
            <a:extLst xmlns:a="http://schemas.openxmlformats.org/drawingml/2006/main">
              <a:ext uri="{FF2B5EF4-FFF2-40B4-BE49-F238E27FC236}">
                <a16:creationId xmlns:a16="http://schemas.microsoft.com/office/drawing/2014/main" id="{6830C560-A66B-48A3-B428-79692E2CF24F}"/>
              </a:ext>
            </a:extLst>
          </p:cNvPr>
          <p:cNvSpPr>
            <a:spLocks xmlns:a="http://schemas.openxmlformats.org/drawingml/2006/main" noGrp="1"/>
          </p:cNvSpPr>
          <p:nvPr/>
        </p:nvSpPr>
        <p:spPr>
          <a:xfrm xmlns:a="http://schemas.openxmlformats.org/drawingml/2006/main">
            <a:off x="777240" y="5532120"/>
            <a:ext cx="10515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800"/>
              <a:buFont typeface="Arial"/>
              <a:buNone/>
            </a:pPr>
            <a:r>
              <a:rPr sz="1800" b="0" i="0" u="none" cap="none">
                <a:solidFill>
                  <a:srgbClr val="B8B8B8"/>
                </a:solidFill>
                <a:latin typeface="Arial"/>
                <a:ea typeface="Arial"/>
                <a:cs typeface="Arial"/>
              </a:rPr>
              <a:t>Default file names: Raw_Data, Clean_Data, Decision_Log</a:t>
            </a:r>
          </a:p>
        </p:txBody>
      </p:sp>
    </p:spTree>
    <p:extLst>
      <p:ext uri="{BB962C8B-B14F-4D97-AF65-F5344CB8AC3E}">
        <p14:creationId xmlns:p14="http://schemas.microsoft.com/office/powerpoint/2010/main" val="1412708341"/>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68" name="Google Shape;224;p12"/>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269" name="Google Shape;225;p12"/>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226" name="Google Shape;226;p12">
            <a:extLst xmlns:a="http://schemas.openxmlformats.org/drawingml/2006/main">
              <a:ext uri="{FF2B5EF4-FFF2-40B4-BE49-F238E27FC236}">
                <a16:creationId xmlns:a16="http://schemas.microsoft.com/office/drawing/2014/main" id="{E9310559-640A-47E1-B036-6D25D87BFF25}"/>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227" name="Google Shape;227;p12">
            <a:extLst xmlns:a="http://schemas.openxmlformats.org/drawingml/2006/main">
              <a:ext uri="{FF2B5EF4-FFF2-40B4-BE49-F238E27FC236}">
                <a16:creationId xmlns:a16="http://schemas.microsoft.com/office/drawing/2014/main" id="{0A73363D-0EE9-460A-819A-D6B37D40242F}"/>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228" name="Google Shape;228;p12">
            <a:extLst xmlns:a="http://schemas.openxmlformats.org/drawingml/2006/main">
              <a:ext uri="{FF2B5EF4-FFF2-40B4-BE49-F238E27FC236}">
                <a16:creationId xmlns:a16="http://schemas.microsoft.com/office/drawing/2014/main" id="{F918484A-C6C2-447D-BCDA-5D03FA03AA5D}"/>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229" name="Google Shape;229;p12">
            <a:extLst xmlns:a="http://schemas.openxmlformats.org/drawingml/2006/main">
              <a:ext uri="{FF2B5EF4-FFF2-40B4-BE49-F238E27FC236}">
                <a16:creationId xmlns:a16="http://schemas.microsoft.com/office/drawing/2014/main" id="{1F90E942-7544-4A84-A348-D26462316550}"/>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audit a messy data table</a:t>
            </a:r>
          </a:p>
        </p:txBody>
      </p:sp>
      <p:cxnSp>
        <p:nvCxnSpPr>
          <p:cNvPr id="274" name="Google Shape;230;p12"/>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231" name="Google Shape;231;p12">
            <a:extLst xmlns:a="http://schemas.openxmlformats.org/drawingml/2006/main">
              <a:ext uri="{FF2B5EF4-FFF2-40B4-BE49-F238E27FC236}">
                <a16:creationId xmlns:a16="http://schemas.microsoft.com/office/drawing/2014/main" id="{FCEF9CBD-A09C-4F53-A6E4-C29AD758163E}"/>
              </a:ext>
            </a:extLst>
          </p:cNvPr>
          <p:cNvSpPr>
            <a:spLocks xmlns:a="http://schemas.openxmlformats.org/drawingml/2006/main" noGrp="1"/>
          </p:cNvSpPr>
          <p:nvPr/>
        </p:nvSpPr>
        <p:spPr>
          <a:xfrm xmlns:a="http://schemas.openxmlformats.org/drawingml/2006/main">
            <a:off x="685800" y="1783080"/>
            <a:ext cx="10835640" cy="33832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2" name="Google Shape;232;p12">
            <a:extLst xmlns:a="http://schemas.openxmlformats.org/drawingml/2006/main">
              <a:ext uri="{FF2B5EF4-FFF2-40B4-BE49-F238E27FC236}">
                <a16:creationId xmlns:a16="http://schemas.microsoft.com/office/drawing/2014/main" id="{3A7475BE-8C6C-4A47-9ABD-3F354AAAA564}"/>
              </a:ext>
            </a:extLst>
          </p:cNvPr>
          <p:cNvSpPr>
            <a:spLocks xmlns:a="http://schemas.openxmlformats.org/drawingml/2006/main" noGrp="1"/>
          </p:cNvSpPr>
          <p:nvPr/>
        </p:nvSpPr>
        <p:spPr>
          <a:xfrm xmlns:a="http://schemas.openxmlformats.org/drawingml/2006/main">
            <a:off x="914400" y="2011680"/>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Trial</a:t>
            </a:r>
          </a:p>
        </p:txBody>
      </p:sp>
      <p:sp>
        <p:nvSpPr>
          <p:cNvPr id="233" name="Google Shape;233;p12">
            <a:extLst xmlns:a="http://schemas.openxmlformats.org/drawingml/2006/main">
              <a:ext uri="{FF2B5EF4-FFF2-40B4-BE49-F238E27FC236}">
                <a16:creationId xmlns:a16="http://schemas.microsoft.com/office/drawing/2014/main" id="{17E95AB5-AB6C-496E-8475-0F82B4CE5676}"/>
              </a:ext>
            </a:extLst>
          </p:cNvPr>
          <p:cNvSpPr>
            <a:spLocks xmlns:a="http://schemas.openxmlformats.org/drawingml/2006/main" noGrp="1"/>
          </p:cNvSpPr>
          <p:nvPr/>
        </p:nvSpPr>
        <p:spPr>
          <a:xfrm xmlns:a="http://schemas.openxmlformats.org/drawingml/2006/main">
            <a:off x="2423160" y="2011680"/>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Condition</a:t>
            </a:r>
          </a:p>
        </p:txBody>
      </p:sp>
      <p:sp>
        <p:nvSpPr>
          <p:cNvPr id="234" name="Google Shape;234;p12">
            <a:extLst xmlns:a="http://schemas.openxmlformats.org/drawingml/2006/main">
              <a:ext uri="{FF2B5EF4-FFF2-40B4-BE49-F238E27FC236}">
                <a16:creationId xmlns:a16="http://schemas.microsoft.com/office/drawing/2014/main" id="{90974838-2CA8-493B-8344-A7F455C1DBBD}"/>
              </a:ext>
            </a:extLst>
          </p:cNvPr>
          <p:cNvSpPr>
            <a:spLocks xmlns:a="http://schemas.openxmlformats.org/drawingml/2006/main" noGrp="1"/>
          </p:cNvSpPr>
          <p:nvPr/>
        </p:nvSpPr>
        <p:spPr>
          <a:xfrm xmlns:a="http://schemas.openxmlformats.org/drawingml/2006/main">
            <a:off x="4572000" y="2011680"/>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Height</a:t>
            </a:r>
          </a:p>
        </p:txBody>
      </p:sp>
      <p:sp>
        <p:nvSpPr>
          <p:cNvPr id="235" name="Google Shape;235;p12">
            <a:extLst xmlns:a="http://schemas.openxmlformats.org/drawingml/2006/main">
              <a:ext uri="{FF2B5EF4-FFF2-40B4-BE49-F238E27FC236}">
                <a16:creationId xmlns:a16="http://schemas.microsoft.com/office/drawing/2014/main" id="{04B91301-3D87-4674-BCEE-9A9E17FE825A}"/>
              </a:ext>
            </a:extLst>
          </p:cNvPr>
          <p:cNvSpPr>
            <a:spLocks xmlns:a="http://schemas.openxmlformats.org/drawingml/2006/main" noGrp="1"/>
          </p:cNvSpPr>
          <p:nvPr/>
        </p:nvSpPr>
        <p:spPr>
          <a:xfrm xmlns:a="http://schemas.openxmlformats.org/drawingml/2006/main">
            <a:off x="6400800" y="2011680"/>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Notes</a:t>
            </a:r>
          </a:p>
        </p:txBody>
      </p:sp>
      <p:sp>
        <p:nvSpPr>
          <p:cNvPr id="236" name="Google Shape;236;p12">
            <a:extLst xmlns:a="http://schemas.openxmlformats.org/drawingml/2006/main">
              <a:ext uri="{FF2B5EF4-FFF2-40B4-BE49-F238E27FC236}">
                <a16:creationId xmlns:a16="http://schemas.microsoft.com/office/drawing/2014/main" id="{062FB111-136D-4E14-8F43-B8D925526851}"/>
              </a:ext>
            </a:extLst>
          </p:cNvPr>
          <p:cNvSpPr>
            <a:spLocks xmlns:a="http://schemas.openxmlformats.org/drawingml/2006/main" noGrp="1"/>
          </p:cNvSpPr>
          <p:nvPr/>
        </p:nvSpPr>
        <p:spPr>
          <a:xfrm xmlns:a="http://schemas.openxmlformats.org/drawingml/2006/main">
            <a:off x="914400" y="2450592"/>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a:t>
            </a:r>
          </a:p>
        </p:txBody>
      </p:sp>
      <p:sp>
        <p:nvSpPr>
          <p:cNvPr id="237" name="Google Shape;237;p12">
            <a:extLst xmlns:a="http://schemas.openxmlformats.org/drawingml/2006/main">
              <a:ext uri="{FF2B5EF4-FFF2-40B4-BE49-F238E27FC236}">
                <a16:creationId xmlns:a16="http://schemas.microsoft.com/office/drawing/2014/main" id="{9468C255-42E5-445B-A904-2ADE8F134D25}"/>
              </a:ext>
            </a:extLst>
          </p:cNvPr>
          <p:cNvSpPr>
            <a:spLocks xmlns:a="http://schemas.openxmlformats.org/drawingml/2006/main" noGrp="1"/>
          </p:cNvSpPr>
          <p:nvPr/>
        </p:nvSpPr>
        <p:spPr>
          <a:xfrm xmlns:a="http://schemas.openxmlformats.org/drawingml/2006/main">
            <a:off x="2423160" y="2450592"/>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control</a:t>
            </a:r>
          </a:p>
        </p:txBody>
      </p:sp>
      <p:sp>
        <p:nvSpPr>
          <p:cNvPr id="238" name="Google Shape;238;p12">
            <a:extLst xmlns:a="http://schemas.openxmlformats.org/drawingml/2006/main">
              <a:ext uri="{FF2B5EF4-FFF2-40B4-BE49-F238E27FC236}">
                <a16:creationId xmlns:a16="http://schemas.microsoft.com/office/drawing/2014/main" id="{A436461A-329A-4F99-8A73-62037040934F}"/>
              </a:ext>
            </a:extLst>
          </p:cNvPr>
          <p:cNvSpPr>
            <a:spLocks xmlns:a="http://schemas.openxmlformats.org/drawingml/2006/main" noGrp="1"/>
          </p:cNvSpPr>
          <p:nvPr/>
        </p:nvSpPr>
        <p:spPr>
          <a:xfrm xmlns:a="http://schemas.openxmlformats.org/drawingml/2006/main">
            <a:off x="4572000" y="2450592"/>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12</a:t>
            </a:r>
          </a:p>
        </p:txBody>
      </p:sp>
      <p:sp>
        <p:nvSpPr>
          <p:cNvPr id="239" name="Google Shape;239;p12">
            <a:extLst xmlns:a="http://schemas.openxmlformats.org/drawingml/2006/main">
              <a:ext uri="{FF2B5EF4-FFF2-40B4-BE49-F238E27FC236}">
                <a16:creationId xmlns:a16="http://schemas.microsoft.com/office/drawing/2014/main" id="{C8E694ED-F20F-4850-932A-EB7408C975F1}"/>
              </a:ext>
            </a:extLst>
          </p:cNvPr>
          <p:cNvSpPr>
            <a:spLocks xmlns:a="http://schemas.openxmlformats.org/drawingml/2006/main" noGrp="1"/>
          </p:cNvSpPr>
          <p:nvPr/>
        </p:nvSpPr>
        <p:spPr>
          <a:xfrm xmlns:a="http://schemas.openxmlformats.org/drawingml/2006/main">
            <a:off x="6400800" y="2450592"/>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ok</a:t>
            </a:r>
          </a:p>
        </p:txBody>
      </p:sp>
      <p:sp>
        <p:nvSpPr>
          <p:cNvPr id="240" name="Google Shape;240;p12">
            <a:extLst xmlns:a="http://schemas.openxmlformats.org/drawingml/2006/main">
              <a:ext uri="{FF2B5EF4-FFF2-40B4-BE49-F238E27FC236}">
                <a16:creationId xmlns:a16="http://schemas.microsoft.com/office/drawing/2014/main" id="{D2694837-A10E-4D12-A318-78192704C69E}"/>
              </a:ext>
            </a:extLst>
          </p:cNvPr>
          <p:cNvSpPr>
            <a:spLocks xmlns:a="http://schemas.openxmlformats.org/drawingml/2006/main" noGrp="1"/>
          </p:cNvSpPr>
          <p:nvPr/>
        </p:nvSpPr>
        <p:spPr>
          <a:xfrm xmlns:a="http://schemas.openxmlformats.org/drawingml/2006/main">
            <a:off x="914400" y="2889504"/>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2</a:t>
            </a:r>
          </a:p>
        </p:txBody>
      </p:sp>
      <p:sp>
        <p:nvSpPr>
          <p:cNvPr id="241" name="Google Shape;241;p12">
            <a:extLst xmlns:a="http://schemas.openxmlformats.org/drawingml/2006/main">
              <a:ext uri="{FF2B5EF4-FFF2-40B4-BE49-F238E27FC236}">
                <a16:creationId xmlns:a16="http://schemas.microsoft.com/office/drawing/2014/main" id="{4D08D484-C871-462C-BEE9-7EBBCF3A9113}"/>
              </a:ext>
            </a:extLst>
          </p:cNvPr>
          <p:cNvSpPr>
            <a:spLocks xmlns:a="http://schemas.openxmlformats.org/drawingml/2006/main" noGrp="1"/>
          </p:cNvSpPr>
          <p:nvPr/>
        </p:nvSpPr>
        <p:spPr>
          <a:xfrm xmlns:a="http://schemas.openxmlformats.org/drawingml/2006/main">
            <a:off x="2423160" y="2889504"/>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Control</a:t>
            </a:r>
          </a:p>
        </p:txBody>
      </p:sp>
      <p:sp>
        <p:nvSpPr>
          <p:cNvPr id="242" name="Google Shape;242;p12">
            <a:extLst xmlns:a="http://schemas.openxmlformats.org/drawingml/2006/main">
              <a:ext uri="{FF2B5EF4-FFF2-40B4-BE49-F238E27FC236}">
                <a16:creationId xmlns:a16="http://schemas.microsoft.com/office/drawing/2014/main" id="{73EB6A92-4749-46CF-A1FF-41A72BFDC09F}"/>
              </a:ext>
            </a:extLst>
          </p:cNvPr>
          <p:cNvSpPr>
            <a:spLocks xmlns:a="http://schemas.openxmlformats.org/drawingml/2006/main" noGrp="1"/>
          </p:cNvSpPr>
          <p:nvPr/>
        </p:nvSpPr>
        <p:spPr>
          <a:xfrm xmlns:a="http://schemas.openxmlformats.org/drawingml/2006/main">
            <a:off x="4572000" y="2889504"/>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13 cm</a:t>
            </a:r>
          </a:p>
        </p:txBody>
      </p:sp>
      <p:sp>
        <p:nvSpPr>
          <p:cNvPr id="243" name="Google Shape;243;p12">
            <a:extLst xmlns:a="http://schemas.openxmlformats.org/drawingml/2006/main">
              <a:ext uri="{FF2B5EF4-FFF2-40B4-BE49-F238E27FC236}">
                <a16:creationId xmlns:a16="http://schemas.microsoft.com/office/drawing/2014/main" id="{D4918B5D-326F-4F45-BCCD-066740761757}"/>
              </a:ext>
            </a:extLst>
          </p:cNvPr>
          <p:cNvSpPr>
            <a:spLocks xmlns:a="http://schemas.openxmlformats.org/drawingml/2006/main" noGrp="1"/>
          </p:cNvSpPr>
          <p:nvPr/>
        </p:nvSpPr>
        <p:spPr>
          <a:xfrm xmlns:a="http://schemas.openxmlformats.org/drawingml/2006/main">
            <a:off x="6400800" y="2889504"/>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chemeClr val="dk1"/>
              </a:buClr>
              <a:buSzPts val="1100"/>
              <a:buFont typeface="Arial"/>
              <a:buNone/>
            </a:pPr>
            <a:r>
              <a:t/>
            </a:r>
          </a:p>
        </p:txBody>
      </p:sp>
      <p:sp>
        <p:nvSpPr>
          <p:cNvPr id="244" name="Google Shape;244;p12">
            <a:extLst xmlns:a="http://schemas.openxmlformats.org/drawingml/2006/main">
              <a:ext uri="{FF2B5EF4-FFF2-40B4-BE49-F238E27FC236}">
                <a16:creationId xmlns:a16="http://schemas.microsoft.com/office/drawing/2014/main" id="{AC3F2635-E54D-4BAD-AE17-45472E80A1C5}"/>
              </a:ext>
            </a:extLst>
          </p:cNvPr>
          <p:cNvSpPr>
            <a:spLocks xmlns:a="http://schemas.openxmlformats.org/drawingml/2006/main" noGrp="1"/>
          </p:cNvSpPr>
          <p:nvPr/>
        </p:nvSpPr>
        <p:spPr>
          <a:xfrm xmlns:a="http://schemas.openxmlformats.org/drawingml/2006/main">
            <a:off x="914400" y="3328416"/>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3</a:t>
            </a:r>
          </a:p>
        </p:txBody>
      </p:sp>
      <p:sp>
        <p:nvSpPr>
          <p:cNvPr id="245" name="Google Shape;245;p12">
            <a:extLst xmlns:a="http://schemas.openxmlformats.org/drawingml/2006/main">
              <a:ext uri="{FF2B5EF4-FFF2-40B4-BE49-F238E27FC236}">
                <a16:creationId xmlns:a16="http://schemas.microsoft.com/office/drawing/2014/main" id="{6A8D2118-A382-4B56-81A4-DB45CF37B968}"/>
              </a:ext>
            </a:extLst>
          </p:cNvPr>
          <p:cNvSpPr>
            <a:spLocks xmlns:a="http://schemas.openxmlformats.org/drawingml/2006/main" noGrp="1"/>
          </p:cNvSpPr>
          <p:nvPr/>
        </p:nvSpPr>
        <p:spPr>
          <a:xfrm xmlns:a="http://schemas.openxmlformats.org/drawingml/2006/main">
            <a:off x="2423160" y="3328416"/>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fert</a:t>
            </a:r>
          </a:p>
        </p:txBody>
      </p:sp>
      <p:sp>
        <p:nvSpPr>
          <p:cNvPr id="246" name="Google Shape;246;p12">
            <a:extLst xmlns:a="http://schemas.openxmlformats.org/drawingml/2006/main">
              <a:ext uri="{FF2B5EF4-FFF2-40B4-BE49-F238E27FC236}">
                <a16:creationId xmlns:a16="http://schemas.microsoft.com/office/drawing/2014/main" id="{C735273E-9642-4083-9144-E7F110AE0274}"/>
              </a:ext>
            </a:extLst>
          </p:cNvPr>
          <p:cNvSpPr>
            <a:spLocks xmlns:a="http://schemas.openxmlformats.org/drawingml/2006/main" noGrp="1"/>
          </p:cNvSpPr>
          <p:nvPr/>
        </p:nvSpPr>
        <p:spPr>
          <a:xfrm xmlns:a="http://schemas.openxmlformats.org/drawingml/2006/main">
            <a:off x="4572000" y="3328416"/>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18</a:t>
            </a:r>
          </a:p>
        </p:txBody>
      </p:sp>
      <p:sp>
        <p:nvSpPr>
          <p:cNvPr id="247" name="Google Shape;247;p12">
            <a:extLst xmlns:a="http://schemas.openxmlformats.org/drawingml/2006/main">
              <a:ext uri="{FF2B5EF4-FFF2-40B4-BE49-F238E27FC236}">
                <a16:creationId xmlns:a16="http://schemas.microsoft.com/office/drawing/2014/main" id="{C238E7A9-CD72-4DCF-8772-1A1E22295E09}"/>
              </a:ext>
            </a:extLst>
          </p:cNvPr>
          <p:cNvSpPr>
            <a:spLocks xmlns:a="http://schemas.openxmlformats.org/drawingml/2006/main" noGrp="1"/>
          </p:cNvSpPr>
          <p:nvPr/>
        </p:nvSpPr>
        <p:spPr>
          <a:xfrm xmlns:a="http://schemas.openxmlformats.org/drawingml/2006/main">
            <a:off x="6400800" y="3328416"/>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spilled?</a:t>
            </a:r>
          </a:p>
        </p:txBody>
      </p:sp>
      <p:sp>
        <p:nvSpPr>
          <p:cNvPr id="248" name="Google Shape;248;p12">
            <a:extLst xmlns:a="http://schemas.openxmlformats.org/drawingml/2006/main">
              <a:ext uri="{FF2B5EF4-FFF2-40B4-BE49-F238E27FC236}">
                <a16:creationId xmlns:a16="http://schemas.microsoft.com/office/drawing/2014/main" id="{5AA69E08-2D8C-48BE-A70B-589470A74720}"/>
              </a:ext>
            </a:extLst>
          </p:cNvPr>
          <p:cNvSpPr>
            <a:spLocks xmlns:a="http://schemas.openxmlformats.org/drawingml/2006/main" noGrp="1"/>
          </p:cNvSpPr>
          <p:nvPr/>
        </p:nvSpPr>
        <p:spPr>
          <a:xfrm xmlns:a="http://schemas.openxmlformats.org/drawingml/2006/main">
            <a:off x="914400" y="3767328"/>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4</a:t>
            </a:r>
          </a:p>
        </p:txBody>
      </p:sp>
      <p:sp>
        <p:nvSpPr>
          <p:cNvPr id="249" name="Google Shape;249;p12">
            <a:extLst xmlns:a="http://schemas.openxmlformats.org/drawingml/2006/main">
              <a:ext uri="{FF2B5EF4-FFF2-40B4-BE49-F238E27FC236}">
                <a16:creationId xmlns:a16="http://schemas.microsoft.com/office/drawing/2014/main" id="{EF26D40B-314A-47BD-85DD-AA955FFF4C59}"/>
              </a:ext>
            </a:extLst>
          </p:cNvPr>
          <p:cNvSpPr>
            <a:spLocks xmlns:a="http://schemas.openxmlformats.org/drawingml/2006/main" noGrp="1"/>
          </p:cNvSpPr>
          <p:nvPr/>
        </p:nvSpPr>
        <p:spPr>
          <a:xfrm xmlns:a="http://schemas.openxmlformats.org/drawingml/2006/main">
            <a:off x="2423160" y="3767328"/>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fertilizer</a:t>
            </a:r>
          </a:p>
        </p:txBody>
      </p:sp>
      <p:sp>
        <p:nvSpPr>
          <p:cNvPr id="250" name="Google Shape;250;p12">
            <a:extLst xmlns:a="http://schemas.openxmlformats.org/drawingml/2006/main">
              <a:ext uri="{FF2B5EF4-FFF2-40B4-BE49-F238E27FC236}">
                <a16:creationId xmlns:a16="http://schemas.microsoft.com/office/drawing/2014/main" id="{F46949B5-96F9-448C-95C5-9B3F4B52E08A}"/>
              </a:ext>
            </a:extLst>
          </p:cNvPr>
          <p:cNvSpPr>
            <a:spLocks xmlns:a="http://schemas.openxmlformats.org/drawingml/2006/main" noGrp="1"/>
          </p:cNvSpPr>
          <p:nvPr/>
        </p:nvSpPr>
        <p:spPr>
          <a:xfrm xmlns:a="http://schemas.openxmlformats.org/drawingml/2006/main">
            <a:off x="4572000" y="3767328"/>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22</a:t>
            </a:r>
          </a:p>
        </p:txBody>
      </p:sp>
      <p:sp>
        <p:nvSpPr>
          <p:cNvPr id="251" name="Google Shape;251;p12">
            <a:extLst xmlns:a="http://schemas.openxmlformats.org/drawingml/2006/main">
              <a:ext uri="{FF2B5EF4-FFF2-40B4-BE49-F238E27FC236}">
                <a16:creationId xmlns:a16="http://schemas.microsoft.com/office/drawing/2014/main" id="{3C1186C4-42D2-406B-92C3-7FB5B55DC4FA}"/>
              </a:ext>
            </a:extLst>
          </p:cNvPr>
          <p:cNvSpPr>
            <a:spLocks xmlns:a="http://schemas.openxmlformats.org/drawingml/2006/main" noGrp="1"/>
          </p:cNvSpPr>
          <p:nvPr/>
        </p:nvSpPr>
        <p:spPr>
          <a:xfrm xmlns:a="http://schemas.openxmlformats.org/drawingml/2006/main">
            <a:off x="6400800" y="3767328"/>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best one</a:t>
            </a:r>
          </a:p>
        </p:txBody>
      </p:sp>
      <p:sp>
        <p:nvSpPr>
          <p:cNvPr id="252" name="Google Shape;252;p12">
            <a:extLst xmlns:a="http://schemas.openxmlformats.org/drawingml/2006/main">
              <a:ext uri="{FF2B5EF4-FFF2-40B4-BE49-F238E27FC236}">
                <a16:creationId xmlns:a16="http://schemas.microsoft.com/office/drawing/2014/main" id="{C1295230-F322-4681-84FA-8F03D0B8E4F6}"/>
              </a:ext>
            </a:extLst>
          </p:cNvPr>
          <p:cNvSpPr>
            <a:spLocks xmlns:a="http://schemas.openxmlformats.org/drawingml/2006/main" noGrp="1"/>
          </p:cNvSpPr>
          <p:nvPr/>
        </p:nvSpPr>
        <p:spPr>
          <a:xfrm xmlns:a="http://schemas.openxmlformats.org/drawingml/2006/main">
            <a:off x="914400" y="4206240"/>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5</a:t>
            </a:r>
          </a:p>
        </p:txBody>
      </p:sp>
      <p:sp>
        <p:nvSpPr>
          <p:cNvPr id="253" name="Google Shape;253;p12">
            <a:extLst xmlns:a="http://schemas.openxmlformats.org/drawingml/2006/main">
              <a:ext uri="{FF2B5EF4-FFF2-40B4-BE49-F238E27FC236}">
                <a16:creationId xmlns:a16="http://schemas.microsoft.com/office/drawing/2014/main" id="{7EE81682-8043-4CB6-AD89-FD642786A1FA}"/>
              </a:ext>
            </a:extLst>
          </p:cNvPr>
          <p:cNvSpPr>
            <a:spLocks xmlns:a="http://schemas.openxmlformats.org/drawingml/2006/main" noGrp="1"/>
          </p:cNvSpPr>
          <p:nvPr/>
        </p:nvSpPr>
        <p:spPr>
          <a:xfrm xmlns:a="http://schemas.openxmlformats.org/drawingml/2006/main">
            <a:off x="2423160" y="4206240"/>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chemeClr val="dk1"/>
              </a:buClr>
              <a:buSzPts val="1100"/>
              <a:buFont typeface="Arial"/>
              <a:buNone/>
            </a:pPr>
            <a:r>
              <a:t/>
            </a:r>
          </a:p>
        </p:txBody>
      </p:sp>
      <p:sp>
        <p:nvSpPr>
          <p:cNvPr id="254" name="Google Shape;254;p12">
            <a:extLst xmlns:a="http://schemas.openxmlformats.org/drawingml/2006/main">
              <a:ext uri="{FF2B5EF4-FFF2-40B4-BE49-F238E27FC236}">
                <a16:creationId xmlns:a16="http://schemas.microsoft.com/office/drawing/2014/main" id="{EF88D0FC-8454-4F1B-B13E-646AED0BC521}"/>
              </a:ext>
            </a:extLst>
          </p:cNvPr>
          <p:cNvSpPr>
            <a:spLocks xmlns:a="http://schemas.openxmlformats.org/drawingml/2006/main" noGrp="1"/>
          </p:cNvSpPr>
          <p:nvPr/>
        </p:nvSpPr>
        <p:spPr>
          <a:xfrm xmlns:a="http://schemas.openxmlformats.org/drawingml/2006/main">
            <a:off x="4572000" y="4206240"/>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19 cm</a:t>
            </a:r>
          </a:p>
        </p:txBody>
      </p:sp>
      <p:sp>
        <p:nvSpPr>
          <p:cNvPr id="255" name="Google Shape;255;p12">
            <a:extLst xmlns:a="http://schemas.openxmlformats.org/drawingml/2006/main">
              <a:ext uri="{FF2B5EF4-FFF2-40B4-BE49-F238E27FC236}">
                <a16:creationId xmlns:a16="http://schemas.microsoft.com/office/drawing/2014/main" id="{E079FC84-1388-4706-85D3-4100358FF39D}"/>
              </a:ext>
            </a:extLst>
          </p:cNvPr>
          <p:cNvSpPr>
            <a:spLocks xmlns:a="http://schemas.openxmlformats.org/drawingml/2006/main" noGrp="1"/>
          </p:cNvSpPr>
          <p:nvPr/>
        </p:nvSpPr>
        <p:spPr>
          <a:xfrm xmlns:a="http://schemas.openxmlformats.org/drawingml/2006/main">
            <a:off x="6400800" y="4206240"/>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forgot date</a:t>
            </a:r>
          </a:p>
        </p:txBody>
      </p:sp>
      <p:sp>
        <p:nvSpPr>
          <p:cNvPr id="256" name="Google Shape;256;p12">
            <a:extLst xmlns:a="http://schemas.openxmlformats.org/drawingml/2006/main">
              <a:ext uri="{FF2B5EF4-FFF2-40B4-BE49-F238E27FC236}">
                <a16:creationId xmlns:a16="http://schemas.microsoft.com/office/drawing/2014/main" id="{09A48D40-D905-4FC6-AC69-BB91AA810404}"/>
              </a:ext>
            </a:extLst>
          </p:cNvPr>
          <p:cNvSpPr>
            <a:spLocks xmlns:a="http://schemas.openxmlformats.org/drawingml/2006/main" noGrp="1"/>
          </p:cNvSpPr>
          <p:nvPr/>
        </p:nvSpPr>
        <p:spPr>
          <a:xfrm xmlns:a="http://schemas.openxmlformats.org/drawingml/2006/main">
            <a:off x="685800" y="5257800"/>
            <a:ext cx="10835640" cy="777240"/>
          </a:xfrm>
          <a:prstGeom xmlns:a="http://schemas.openxmlformats.org/drawingml/2006/main" prst="rect">
            <a:avLst/>
          </a:prstGeom>
          <a:solidFill xmlns:a="http://schemas.openxmlformats.org/drawingml/2006/main">
            <a:srgbClr val="0D0D0D"/>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7" name="Google Shape;257;p12">
            <a:extLst xmlns:a="http://schemas.openxmlformats.org/drawingml/2006/main">
              <a:ext uri="{FF2B5EF4-FFF2-40B4-BE49-F238E27FC236}">
                <a16:creationId xmlns:a16="http://schemas.microsoft.com/office/drawing/2014/main" id="{62FB194D-8C33-4C1B-83D5-261E1DBB5327}"/>
              </a:ext>
            </a:extLst>
          </p:cNvPr>
          <p:cNvSpPr>
            <a:spLocks xmlns:a="http://schemas.openxmlformats.org/drawingml/2006/main" noGrp="1"/>
          </p:cNvSpPr>
          <p:nvPr/>
        </p:nvSpPr>
        <p:spPr>
          <a:xfrm xmlns:a="http://schemas.openxmlformats.org/drawingml/2006/main">
            <a:off x="914400" y="5376672"/>
            <a:ext cx="150876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8" name="Google Shape;258;p12">
            <a:extLst xmlns:a="http://schemas.openxmlformats.org/drawingml/2006/main">
              <a:ext uri="{FF2B5EF4-FFF2-40B4-BE49-F238E27FC236}">
                <a16:creationId xmlns:a16="http://schemas.microsoft.com/office/drawing/2014/main" id="{50AD4CD6-0E77-4C56-8DE2-3C995B13D39F}"/>
              </a:ext>
            </a:extLst>
          </p:cNvPr>
          <p:cNvSpPr>
            <a:spLocks xmlns:a="http://schemas.openxmlformats.org/drawingml/2006/main" noGrp="1"/>
          </p:cNvSpPr>
          <p:nvPr/>
        </p:nvSpPr>
        <p:spPr>
          <a:xfrm xmlns:a="http://schemas.openxmlformats.org/drawingml/2006/main">
            <a:off x="960120" y="5431536"/>
            <a:ext cx="141732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259" name="Google Shape;259;p12">
            <a:extLst xmlns:a="http://schemas.openxmlformats.org/drawingml/2006/main">
              <a:ext uri="{FF2B5EF4-FFF2-40B4-BE49-F238E27FC236}">
                <a16:creationId xmlns:a16="http://schemas.microsoft.com/office/drawing/2014/main" id="{86E846CC-7AFC-44FF-B5A5-B035FA50B01A}"/>
              </a:ext>
            </a:extLst>
          </p:cNvPr>
          <p:cNvSpPr>
            <a:spLocks xmlns:a="http://schemas.openxmlformats.org/drawingml/2006/main" noGrp="1"/>
          </p:cNvSpPr>
          <p:nvPr/>
        </p:nvSpPr>
        <p:spPr>
          <a:xfrm xmlns:a="http://schemas.openxmlformats.org/drawingml/2006/main">
            <a:off x="2606040" y="5321808"/>
            <a:ext cx="84582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780"/>
              <a:buFont typeface="Arial"/>
              <a:buNone/>
            </a:pPr>
            <a:r>
              <a:rPr sz="780" b="0" i="0" u="none" cap="none">
                <a:solidFill>
                  <a:srgbClr val="B8B8B8"/>
                </a:solidFill>
                <a:latin typeface="Arial"/>
                <a:ea typeface="Arial"/>
                <a:cs typeface="Arial"/>
              </a:rPr>
              <a:t>Unit 4 Week 17 Day 3 • Student Handout 3: Data Cleaning Decision Log; Appendix C: Common Data Organization Problems</a:t>
            </a:r>
          </a:p>
        </p:txBody>
      </p:sp>
      <p:sp>
        <p:nvSpPr>
          <p:cNvPr id="260" name="Google Shape;260;p12">
            <a:extLst xmlns:a="http://schemas.openxmlformats.org/drawingml/2006/main">
              <a:ext uri="{FF2B5EF4-FFF2-40B4-BE49-F238E27FC236}">
                <a16:creationId xmlns:a16="http://schemas.microsoft.com/office/drawing/2014/main" id="{8A0C16C2-3D45-452D-A42E-F8B72E3109C3}"/>
              </a:ext>
            </a:extLst>
          </p:cNvPr>
          <p:cNvSpPr>
            <a:spLocks xmlns:a="http://schemas.openxmlformats.org/drawingml/2006/main" noGrp="1"/>
          </p:cNvSpPr>
          <p:nvPr/>
        </p:nvSpPr>
        <p:spPr>
          <a:xfrm xmlns:a="http://schemas.openxmlformats.org/drawingml/2006/main">
            <a:off x="2606040" y="5532120"/>
            <a:ext cx="84582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400"/>
              <a:buFont typeface="Arial"/>
              <a:buNone/>
            </a:pPr>
            <a:r>
              <a:rPr sz="1400" b="0" i="0" u="none" cap="none">
                <a:solidFill>
                  <a:srgbClr val="FFFFFF"/>
                </a:solidFill>
                <a:latin typeface="Arial"/>
                <a:ea typeface="Arial"/>
                <a:cs typeface="Arial"/>
              </a:rPr>
              <a:t>Find five problems: labels, units, flags, missing information, and cleaning decisions.</a:t>
            </a:r>
          </a:p>
        </p:txBody>
      </p:sp>
    </p:spTree>
    <p:extLst>
      <p:ext uri="{BB962C8B-B14F-4D97-AF65-F5344CB8AC3E}">
        <p14:creationId xmlns:p14="http://schemas.microsoft.com/office/powerpoint/2010/main" val="828009456"/>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98" name="Google Shape;266;p13"/>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299" name="Google Shape;267;p13"/>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268" name="Google Shape;268;p13">
            <a:extLst xmlns:a="http://schemas.openxmlformats.org/drawingml/2006/main">
              <a:ext uri="{FF2B5EF4-FFF2-40B4-BE49-F238E27FC236}">
                <a16:creationId xmlns:a16="http://schemas.microsoft.com/office/drawing/2014/main" id="{91781769-D19D-4FAD-8451-55F45E57B86E}"/>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269" name="Google Shape;269;p13">
            <a:extLst xmlns:a="http://schemas.openxmlformats.org/drawingml/2006/main">
              <a:ext uri="{FF2B5EF4-FFF2-40B4-BE49-F238E27FC236}">
                <a16:creationId xmlns:a16="http://schemas.microsoft.com/office/drawing/2014/main" id="{4FCA016B-CD48-41CF-A5ED-23D1F883DAB1}"/>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270" name="Google Shape;270;p13">
            <a:extLst xmlns:a="http://schemas.openxmlformats.org/drawingml/2006/main">
              <a:ext uri="{FF2B5EF4-FFF2-40B4-BE49-F238E27FC236}">
                <a16:creationId xmlns:a16="http://schemas.microsoft.com/office/drawing/2014/main" id="{00B60CE7-7296-482F-A014-060EE34C53F2}"/>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271" name="Google Shape;271;p13">
            <a:extLst xmlns:a="http://schemas.openxmlformats.org/drawingml/2006/main">
              <a:ext uri="{FF2B5EF4-FFF2-40B4-BE49-F238E27FC236}">
                <a16:creationId xmlns:a16="http://schemas.microsoft.com/office/drawing/2014/main" id="{077AD8FE-3B04-47FD-BF12-7070DE906868}"/>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Cleaning decisions must be documented</a:t>
            </a:r>
          </a:p>
        </p:txBody>
      </p:sp>
      <p:cxnSp>
        <p:nvCxnSpPr>
          <p:cNvPr id="304" name="Google Shape;272;p13"/>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273" name="Google Shape;273;p13">
            <a:extLst xmlns:a="http://schemas.openxmlformats.org/drawingml/2006/main">
              <a:ext uri="{FF2B5EF4-FFF2-40B4-BE49-F238E27FC236}">
                <a16:creationId xmlns:a16="http://schemas.microsoft.com/office/drawing/2014/main" id="{EF810C64-0A49-473A-B357-0DEC8CED22DC}"/>
              </a:ext>
            </a:extLst>
          </p:cNvPr>
          <p:cNvSpPr>
            <a:spLocks xmlns:a="http://schemas.openxmlformats.org/drawingml/2006/main" noGrp="1"/>
          </p:cNvSpPr>
          <p:nvPr/>
        </p:nvSpPr>
        <p:spPr>
          <a:xfrm xmlns:a="http://schemas.openxmlformats.org/drawingml/2006/main">
            <a:off x="777240" y="1828800"/>
            <a:ext cx="10652760" cy="329184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74" name="Google Shape;274;p13">
            <a:extLst xmlns:a="http://schemas.openxmlformats.org/drawingml/2006/main">
              <a:ext uri="{FF2B5EF4-FFF2-40B4-BE49-F238E27FC236}">
                <a16:creationId xmlns:a16="http://schemas.microsoft.com/office/drawing/2014/main" id="{C92F1C09-8E32-45B1-B041-1260F6170B8E}"/>
              </a:ext>
            </a:extLst>
          </p:cNvPr>
          <p:cNvSpPr>
            <a:spLocks xmlns:a="http://schemas.openxmlformats.org/drawingml/2006/main" noGrp="1"/>
          </p:cNvSpPr>
          <p:nvPr/>
        </p:nvSpPr>
        <p:spPr>
          <a:xfrm xmlns:a="http://schemas.openxmlformats.org/drawingml/2006/main">
            <a:off x="1005840" y="2057400"/>
            <a:ext cx="23317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Data affected</a:t>
            </a:r>
          </a:p>
        </p:txBody>
      </p:sp>
      <p:sp>
        <p:nvSpPr>
          <p:cNvPr id="275" name="Google Shape;275;p13">
            <a:extLst xmlns:a="http://schemas.openxmlformats.org/drawingml/2006/main">
              <a:ext uri="{FF2B5EF4-FFF2-40B4-BE49-F238E27FC236}">
                <a16:creationId xmlns:a16="http://schemas.microsoft.com/office/drawing/2014/main" id="{3687D706-6960-4F0B-AB6C-8615AC4F857A}"/>
              </a:ext>
            </a:extLst>
          </p:cNvPr>
          <p:cNvSpPr>
            <a:spLocks xmlns:a="http://schemas.openxmlformats.org/drawingml/2006/main" noGrp="1"/>
          </p:cNvSpPr>
          <p:nvPr/>
        </p:nvSpPr>
        <p:spPr>
          <a:xfrm xmlns:a="http://schemas.openxmlformats.org/drawingml/2006/main">
            <a:off x="3657600" y="2057400"/>
            <a:ext cx="23317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Decision made</a:t>
            </a:r>
          </a:p>
        </p:txBody>
      </p:sp>
      <p:sp>
        <p:nvSpPr>
          <p:cNvPr id="276" name="Google Shape;276;p13">
            <a:extLst xmlns:a="http://schemas.openxmlformats.org/drawingml/2006/main">
              <a:ext uri="{FF2B5EF4-FFF2-40B4-BE49-F238E27FC236}">
                <a16:creationId xmlns:a16="http://schemas.microsoft.com/office/drawing/2014/main" id="{307FF548-04C9-4ACB-8CF5-85524521C158}"/>
              </a:ext>
            </a:extLst>
          </p:cNvPr>
          <p:cNvSpPr>
            <a:spLocks xmlns:a="http://schemas.openxmlformats.org/drawingml/2006/main" noGrp="1"/>
          </p:cNvSpPr>
          <p:nvPr/>
        </p:nvSpPr>
        <p:spPr>
          <a:xfrm xmlns:a="http://schemas.openxmlformats.org/drawingml/2006/main">
            <a:off x="6309360" y="2057400"/>
            <a:ext cx="26517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Reason</a:t>
            </a:r>
          </a:p>
        </p:txBody>
      </p:sp>
      <p:sp>
        <p:nvSpPr>
          <p:cNvPr id="277" name="Google Shape;277;p13">
            <a:extLst xmlns:a="http://schemas.openxmlformats.org/drawingml/2006/main">
              <a:ext uri="{FF2B5EF4-FFF2-40B4-BE49-F238E27FC236}">
                <a16:creationId xmlns:a16="http://schemas.microsoft.com/office/drawing/2014/main" id="{6016A43B-6C67-43B5-9F02-6BE9BBF66F3C}"/>
              </a:ext>
            </a:extLst>
          </p:cNvPr>
          <p:cNvSpPr>
            <a:spLocks xmlns:a="http://schemas.openxmlformats.org/drawingml/2006/main" noGrp="1"/>
          </p:cNvSpPr>
          <p:nvPr/>
        </p:nvSpPr>
        <p:spPr>
          <a:xfrm xmlns:a="http://schemas.openxmlformats.org/drawingml/2006/main">
            <a:off x="9372600" y="2057400"/>
            <a:ext cx="15087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Raw preserved?</a:t>
            </a:r>
          </a:p>
        </p:txBody>
      </p:sp>
      <p:sp>
        <p:nvSpPr>
          <p:cNvPr id="278" name="Google Shape;278;p13">
            <a:extLst xmlns:a="http://schemas.openxmlformats.org/drawingml/2006/main">
              <a:ext uri="{FF2B5EF4-FFF2-40B4-BE49-F238E27FC236}">
                <a16:creationId xmlns:a16="http://schemas.microsoft.com/office/drawing/2014/main" id="{107AB8EA-2821-44D2-87D2-64E48E1DE1D2}"/>
              </a:ext>
            </a:extLst>
          </p:cNvPr>
          <p:cNvSpPr>
            <a:spLocks xmlns:a="http://schemas.openxmlformats.org/drawingml/2006/main" noGrp="1"/>
          </p:cNvSpPr>
          <p:nvPr/>
        </p:nvSpPr>
        <p:spPr>
          <a:xfrm xmlns:a="http://schemas.openxmlformats.org/drawingml/2006/main">
            <a:off x="1005840" y="2578608"/>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Height column</a:t>
            </a:r>
          </a:p>
        </p:txBody>
      </p:sp>
      <p:sp>
        <p:nvSpPr>
          <p:cNvPr id="279" name="Google Shape;279;p13">
            <a:extLst xmlns:a="http://schemas.openxmlformats.org/drawingml/2006/main">
              <a:ext uri="{FF2B5EF4-FFF2-40B4-BE49-F238E27FC236}">
                <a16:creationId xmlns:a16="http://schemas.microsoft.com/office/drawing/2014/main" id="{2C77C980-DA5A-41EB-B0C3-BA18D13A5F26}"/>
              </a:ext>
            </a:extLst>
          </p:cNvPr>
          <p:cNvSpPr>
            <a:spLocks xmlns:a="http://schemas.openxmlformats.org/drawingml/2006/main" noGrp="1"/>
          </p:cNvSpPr>
          <p:nvPr/>
        </p:nvSpPr>
        <p:spPr>
          <a:xfrm xmlns:a="http://schemas.openxmlformats.org/drawingml/2006/main">
            <a:off x="3657600" y="2578608"/>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Standardized to cm</a:t>
            </a:r>
          </a:p>
        </p:txBody>
      </p:sp>
      <p:sp>
        <p:nvSpPr>
          <p:cNvPr id="280" name="Google Shape;280;p13">
            <a:extLst xmlns:a="http://schemas.openxmlformats.org/drawingml/2006/main">
              <a:ext uri="{FF2B5EF4-FFF2-40B4-BE49-F238E27FC236}">
                <a16:creationId xmlns:a16="http://schemas.microsoft.com/office/drawing/2014/main" id="{C3691615-8A1C-40C6-8722-64E71FCCF172}"/>
              </a:ext>
            </a:extLst>
          </p:cNvPr>
          <p:cNvSpPr>
            <a:spLocks xmlns:a="http://schemas.openxmlformats.org/drawingml/2006/main" noGrp="1"/>
          </p:cNvSpPr>
          <p:nvPr/>
        </p:nvSpPr>
        <p:spPr>
          <a:xfrm xmlns:a="http://schemas.openxmlformats.org/drawingml/2006/main">
            <a:off x="6309360" y="2578608"/>
            <a:ext cx="2651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Mixed units</a:t>
            </a:r>
          </a:p>
        </p:txBody>
      </p:sp>
      <p:sp>
        <p:nvSpPr>
          <p:cNvPr id="281" name="Google Shape;281;p13">
            <a:extLst xmlns:a="http://schemas.openxmlformats.org/drawingml/2006/main">
              <a:ext uri="{FF2B5EF4-FFF2-40B4-BE49-F238E27FC236}">
                <a16:creationId xmlns:a16="http://schemas.microsoft.com/office/drawing/2014/main" id="{706D5A66-413F-414F-B86D-7CBAA6C0BAC3}"/>
              </a:ext>
            </a:extLst>
          </p:cNvPr>
          <p:cNvSpPr>
            <a:spLocks xmlns:a="http://schemas.openxmlformats.org/drawingml/2006/main" noGrp="1"/>
          </p:cNvSpPr>
          <p:nvPr/>
        </p:nvSpPr>
        <p:spPr>
          <a:xfrm xmlns:a="http://schemas.openxmlformats.org/drawingml/2006/main">
            <a:off x="9372600" y="2578608"/>
            <a:ext cx="1508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Yes</a:t>
            </a:r>
          </a:p>
        </p:txBody>
      </p:sp>
      <p:sp>
        <p:nvSpPr>
          <p:cNvPr id="282" name="Google Shape;282;p13">
            <a:extLst xmlns:a="http://schemas.openxmlformats.org/drawingml/2006/main">
              <a:ext uri="{FF2B5EF4-FFF2-40B4-BE49-F238E27FC236}">
                <a16:creationId xmlns:a16="http://schemas.microsoft.com/office/drawing/2014/main" id="{21FE3081-FF8E-45E0-BF78-C4E50C3D6600}"/>
              </a:ext>
            </a:extLst>
          </p:cNvPr>
          <p:cNvSpPr>
            <a:spLocks xmlns:a="http://schemas.openxmlformats.org/drawingml/2006/main" noGrp="1"/>
          </p:cNvSpPr>
          <p:nvPr/>
        </p:nvSpPr>
        <p:spPr>
          <a:xfrm xmlns:a="http://schemas.openxmlformats.org/drawingml/2006/main">
            <a:off x="1005840" y="3236976"/>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Trial 3</a:t>
            </a:r>
          </a:p>
        </p:txBody>
      </p:sp>
      <p:sp>
        <p:nvSpPr>
          <p:cNvPr id="283" name="Google Shape;283;p13">
            <a:extLst xmlns:a="http://schemas.openxmlformats.org/drawingml/2006/main">
              <a:ext uri="{FF2B5EF4-FFF2-40B4-BE49-F238E27FC236}">
                <a16:creationId xmlns:a16="http://schemas.microsoft.com/office/drawing/2014/main" id="{D3FCF7C0-4FB7-464F-9EA5-C57C7FBFA4CF}"/>
              </a:ext>
            </a:extLst>
          </p:cNvPr>
          <p:cNvSpPr>
            <a:spLocks xmlns:a="http://schemas.openxmlformats.org/drawingml/2006/main" noGrp="1"/>
          </p:cNvSpPr>
          <p:nvPr/>
        </p:nvSpPr>
        <p:spPr>
          <a:xfrm xmlns:a="http://schemas.openxmlformats.org/drawingml/2006/main">
            <a:off x="3657600" y="3236976"/>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Flagged</a:t>
            </a:r>
          </a:p>
        </p:txBody>
      </p:sp>
      <p:sp>
        <p:nvSpPr>
          <p:cNvPr id="284" name="Google Shape;284;p13">
            <a:extLst xmlns:a="http://schemas.openxmlformats.org/drawingml/2006/main">
              <a:ext uri="{FF2B5EF4-FFF2-40B4-BE49-F238E27FC236}">
                <a16:creationId xmlns:a16="http://schemas.microsoft.com/office/drawing/2014/main" id="{DFCF2CF1-23A4-4861-ABC9-982F70C469D7}"/>
              </a:ext>
            </a:extLst>
          </p:cNvPr>
          <p:cNvSpPr>
            <a:spLocks xmlns:a="http://schemas.openxmlformats.org/drawingml/2006/main" noGrp="1"/>
          </p:cNvSpPr>
          <p:nvPr/>
        </p:nvSpPr>
        <p:spPr>
          <a:xfrm xmlns:a="http://schemas.openxmlformats.org/drawingml/2006/main">
            <a:off x="6309360" y="3236976"/>
            <a:ext cx="2651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Known spill during setup</a:t>
            </a:r>
          </a:p>
        </p:txBody>
      </p:sp>
      <p:sp>
        <p:nvSpPr>
          <p:cNvPr id="285" name="Google Shape;285;p13">
            <a:extLst xmlns:a="http://schemas.openxmlformats.org/drawingml/2006/main">
              <a:ext uri="{FF2B5EF4-FFF2-40B4-BE49-F238E27FC236}">
                <a16:creationId xmlns:a16="http://schemas.microsoft.com/office/drawing/2014/main" id="{6BA03B36-0C2E-4EDE-90E0-F9C5865A8701}"/>
              </a:ext>
            </a:extLst>
          </p:cNvPr>
          <p:cNvSpPr>
            <a:spLocks xmlns:a="http://schemas.openxmlformats.org/drawingml/2006/main" noGrp="1"/>
          </p:cNvSpPr>
          <p:nvPr/>
        </p:nvSpPr>
        <p:spPr>
          <a:xfrm xmlns:a="http://schemas.openxmlformats.org/drawingml/2006/main">
            <a:off x="9372600" y="3236976"/>
            <a:ext cx="1508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Yes</a:t>
            </a:r>
          </a:p>
        </p:txBody>
      </p:sp>
      <p:sp>
        <p:nvSpPr>
          <p:cNvPr id="286" name="Google Shape;286;p13">
            <a:extLst xmlns:a="http://schemas.openxmlformats.org/drawingml/2006/main">
              <a:ext uri="{FF2B5EF4-FFF2-40B4-BE49-F238E27FC236}">
                <a16:creationId xmlns:a16="http://schemas.microsoft.com/office/drawing/2014/main" id="{B1370E01-F4D5-4398-BD9C-A87AE7BDD3C4}"/>
              </a:ext>
            </a:extLst>
          </p:cNvPr>
          <p:cNvSpPr>
            <a:spLocks xmlns:a="http://schemas.openxmlformats.org/drawingml/2006/main" noGrp="1"/>
          </p:cNvSpPr>
          <p:nvPr/>
        </p:nvSpPr>
        <p:spPr>
          <a:xfrm xmlns:a="http://schemas.openxmlformats.org/drawingml/2006/main">
            <a:off x="1005840" y="3895344"/>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Duplicate row</a:t>
            </a:r>
          </a:p>
        </p:txBody>
      </p:sp>
      <p:sp>
        <p:nvSpPr>
          <p:cNvPr id="287" name="Google Shape;287;p13">
            <a:extLst xmlns:a="http://schemas.openxmlformats.org/drawingml/2006/main">
              <a:ext uri="{FF2B5EF4-FFF2-40B4-BE49-F238E27FC236}">
                <a16:creationId xmlns:a16="http://schemas.microsoft.com/office/drawing/2014/main" id="{15899DE9-CDF0-4102-9E0F-0654FA2ADD81}"/>
              </a:ext>
            </a:extLst>
          </p:cNvPr>
          <p:cNvSpPr>
            <a:spLocks xmlns:a="http://schemas.openxmlformats.org/drawingml/2006/main" noGrp="1"/>
          </p:cNvSpPr>
          <p:nvPr/>
        </p:nvSpPr>
        <p:spPr>
          <a:xfrm xmlns:a="http://schemas.openxmlformats.org/drawingml/2006/main">
            <a:off x="3657600" y="3895344"/>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Removed from clean copy</a:t>
            </a:r>
          </a:p>
        </p:txBody>
      </p:sp>
      <p:sp>
        <p:nvSpPr>
          <p:cNvPr id="288" name="Google Shape;288;p13">
            <a:extLst xmlns:a="http://schemas.openxmlformats.org/drawingml/2006/main">
              <a:ext uri="{FF2B5EF4-FFF2-40B4-BE49-F238E27FC236}">
                <a16:creationId xmlns:a16="http://schemas.microsoft.com/office/drawing/2014/main" id="{496F28EB-D1A3-4D0C-8844-03B72C8302FA}"/>
              </a:ext>
            </a:extLst>
          </p:cNvPr>
          <p:cNvSpPr>
            <a:spLocks xmlns:a="http://schemas.openxmlformats.org/drawingml/2006/main" noGrp="1"/>
          </p:cNvSpPr>
          <p:nvPr/>
        </p:nvSpPr>
        <p:spPr>
          <a:xfrm xmlns:a="http://schemas.openxmlformats.org/drawingml/2006/main">
            <a:off x="6309360" y="3895344"/>
            <a:ext cx="2651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Accidental duplicate</a:t>
            </a:r>
          </a:p>
        </p:txBody>
      </p:sp>
      <p:sp>
        <p:nvSpPr>
          <p:cNvPr id="289" name="Google Shape;289;p13">
            <a:extLst xmlns:a="http://schemas.openxmlformats.org/drawingml/2006/main">
              <a:ext uri="{FF2B5EF4-FFF2-40B4-BE49-F238E27FC236}">
                <a16:creationId xmlns:a16="http://schemas.microsoft.com/office/drawing/2014/main" id="{B43ECCCE-3FDF-44D5-A039-6E5B8277F79C}"/>
              </a:ext>
            </a:extLst>
          </p:cNvPr>
          <p:cNvSpPr>
            <a:spLocks xmlns:a="http://schemas.openxmlformats.org/drawingml/2006/main" noGrp="1"/>
          </p:cNvSpPr>
          <p:nvPr/>
        </p:nvSpPr>
        <p:spPr>
          <a:xfrm xmlns:a="http://schemas.openxmlformats.org/drawingml/2006/main">
            <a:off x="9372600" y="3895344"/>
            <a:ext cx="1508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Yes</a:t>
            </a:r>
          </a:p>
        </p:txBody>
      </p:sp>
      <p:sp>
        <p:nvSpPr>
          <p:cNvPr id="290" name="Google Shape;290;p13">
            <a:extLst xmlns:a="http://schemas.openxmlformats.org/drawingml/2006/main">
              <a:ext uri="{FF2B5EF4-FFF2-40B4-BE49-F238E27FC236}">
                <a16:creationId xmlns:a16="http://schemas.microsoft.com/office/drawing/2014/main" id="{77B038AB-9CA5-450F-AE57-477B02410DFC}"/>
              </a:ext>
            </a:extLst>
          </p:cNvPr>
          <p:cNvSpPr>
            <a:spLocks xmlns:a="http://schemas.openxmlformats.org/drawingml/2006/main" noGrp="1"/>
          </p:cNvSpPr>
          <p:nvPr/>
        </p:nvSpPr>
        <p:spPr>
          <a:xfrm xmlns:a="http://schemas.openxmlformats.org/drawingml/2006/main">
            <a:off x="822960" y="5532120"/>
            <a:ext cx="10607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2000"/>
              <a:buFont typeface="Arial"/>
              <a:buNone/>
            </a:pPr>
            <a:r>
              <a:rPr sz="2000" b="0" i="0" u="none" cap="none">
                <a:solidFill>
                  <a:srgbClr val="FFFFFF"/>
                </a:solidFill>
                <a:latin typeface="Arial"/>
                <a:ea typeface="Arial"/>
                <a:cs typeface="Arial"/>
              </a:rPr>
              <a:t>If you cannot explain a cleaning choice, do not make it silently.</a:t>
            </a:r>
          </a:p>
        </p:txBody>
      </p:sp>
    </p:spTree>
    <p:extLst>
      <p:ext uri="{BB962C8B-B14F-4D97-AF65-F5344CB8AC3E}">
        <p14:creationId xmlns:p14="http://schemas.microsoft.com/office/powerpoint/2010/main" val="1606549876"/>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17" name="Google Shape;296;p14"/>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18" name="Google Shape;297;p14"/>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298" name="Google Shape;298;p14">
            <a:extLst xmlns:a="http://schemas.openxmlformats.org/drawingml/2006/main">
              <a:ext uri="{FF2B5EF4-FFF2-40B4-BE49-F238E27FC236}">
                <a16:creationId xmlns:a16="http://schemas.microsoft.com/office/drawing/2014/main" id="{2945056C-23C6-49F9-A95C-E2B6CE754B8A}"/>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299" name="Google Shape;299;p14">
            <a:extLst xmlns:a="http://schemas.openxmlformats.org/drawingml/2006/main">
              <a:ext uri="{FF2B5EF4-FFF2-40B4-BE49-F238E27FC236}">
                <a16:creationId xmlns:a16="http://schemas.microsoft.com/office/drawing/2014/main" id="{36C9B915-DF4E-4B08-8541-E13EC7D44B70}"/>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00" name="Google Shape;300;p14">
            <a:extLst xmlns:a="http://schemas.openxmlformats.org/drawingml/2006/main">
              <a:ext uri="{FF2B5EF4-FFF2-40B4-BE49-F238E27FC236}">
                <a16:creationId xmlns:a16="http://schemas.microsoft.com/office/drawing/2014/main" id="{84E238B0-E54A-4A81-A57C-2DAFD9A7280F}"/>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01" name="Google Shape;301;p14">
            <a:extLst xmlns:a="http://schemas.openxmlformats.org/drawingml/2006/main">
              <a:ext uri="{FF2B5EF4-FFF2-40B4-BE49-F238E27FC236}">
                <a16:creationId xmlns:a16="http://schemas.microsoft.com/office/drawing/2014/main" id="{BE26B4A9-2B0A-4C3E-B768-AC759933FA73}"/>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Questionable data: flag, don’t erase</a:t>
            </a:r>
          </a:p>
        </p:txBody>
      </p:sp>
      <p:cxnSp>
        <p:nvCxnSpPr>
          <p:cNvPr id="323" name="Google Shape;302;p14"/>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03" name="Google Shape;303;p14">
            <a:extLst xmlns:a="http://schemas.openxmlformats.org/drawingml/2006/main">
              <a:ext uri="{FF2B5EF4-FFF2-40B4-BE49-F238E27FC236}">
                <a16:creationId xmlns:a16="http://schemas.microsoft.com/office/drawing/2014/main" id="{3593F224-8D2B-47CB-BA7A-4F46FA77808F}"/>
              </a:ext>
            </a:extLst>
          </p:cNvPr>
          <p:cNvSpPr>
            <a:spLocks xmlns:a="http://schemas.openxmlformats.org/drawingml/2006/main" noGrp="1"/>
          </p:cNvSpPr>
          <p:nvPr/>
        </p:nvSpPr>
        <p:spPr>
          <a:xfrm xmlns:a="http://schemas.openxmlformats.org/drawingml/2006/main">
            <a:off x="68580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4" name="Google Shape;304;p14">
            <a:extLst xmlns:a="http://schemas.openxmlformats.org/drawingml/2006/main">
              <a:ext uri="{FF2B5EF4-FFF2-40B4-BE49-F238E27FC236}">
                <a16:creationId xmlns:a16="http://schemas.microsoft.com/office/drawing/2014/main" id="{B8A97785-E393-4225-BA24-31B4D6E3D153}"/>
              </a:ext>
            </a:extLst>
          </p:cNvPr>
          <p:cNvSpPr>
            <a:spLocks xmlns:a="http://schemas.openxmlformats.org/drawingml/2006/main" noGrp="1"/>
          </p:cNvSpPr>
          <p:nvPr/>
        </p:nvSpPr>
        <p:spPr>
          <a:xfrm xmlns:a="http://schemas.openxmlformats.org/drawingml/2006/main">
            <a:off x="630936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5" name="Google Shape;305;p14">
            <a:extLst xmlns:a="http://schemas.openxmlformats.org/drawingml/2006/main">
              <a:ext uri="{FF2B5EF4-FFF2-40B4-BE49-F238E27FC236}">
                <a16:creationId xmlns:a16="http://schemas.microsoft.com/office/drawing/2014/main" id="{C0500603-D7BB-4917-84FB-C7B7F66318BF}"/>
              </a:ext>
            </a:extLst>
          </p:cNvPr>
          <p:cNvSpPr>
            <a:spLocks xmlns:a="http://schemas.openxmlformats.org/drawingml/2006/main" noGrp="1"/>
          </p:cNvSpPr>
          <p:nvPr/>
        </p:nvSpPr>
        <p:spPr>
          <a:xfrm xmlns:a="http://schemas.openxmlformats.org/drawingml/2006/main">
            <a:off x="96012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FLAG IT WHEN</a:t>
            </a:r>
          </a:p>
        </p:txBody>
      </p:sp>
      <p:sp>
        <p:nvSpPr>
          <p:cNvPr id="306" name="Google Shape;306;p14">
            <a:extLst xmlns:a="http://schemas.openxmlformats.org/drawingml/2006/main">
              <a:ext uri="{FF2B5EF4-FFF2-40B4-BE49-F238E27FC236}">
                <a16:creationId xmlns:a16="http://schemas.microsoft.com/office/drawing/2014/main" id="{1C70E518-7B4A-417A-9745-6AC572181AB3}"/>
              </a:ext>
            </a:extLst>
          </p:cNvPr>
          <p:cNvSpPr>
            <a:spLocks xmlns:a="http://schemas.openxmlformats.org/drawingml/2006/main" noGrp="1"/>
          </p:cNvSpPr>
          <p:nvPr/>
        </p:nvSpPr>
        <p:spPr>
          <a:xfrm xmlns:a="http://schemas.openxmlformats.org/drawingml/2006/main">
            <a:off x="658368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DON’T DELETE JUST BECAUSE</a:t>
            </a:r>
          </a:p>
        </p:txBody>
      </p:sp>
      <p:sp>
        <p:nvSpPr>
          <p:cNvPr id="307" name="Google Shape;307;p14">
            <a:extLst xmlns:a="http://schemas.openxmlformats.org/drawingml/2006/main">
              <a:ext uri="{FF2B5EF4-FFF2-40B4-BE49-F238E27FC236}">
                <a16:creationId xmlns:a16="http://schemas.microsoft.com/office/drawing/2014/main" id="{3B8F173F-8C59-402F-9E30-019A910D1052}"/>
              </a:ext>
            </a:extLst>
          </p:cNvPr>
          <p:cNvSpPr>
            <a:spLocks xmlns:a="http://schemas.openxmlformats.org/drawingml/2006/main" noGrp="1"/>
          </p:cNvSpPr>
          <p:nvPr/>
        </p:nvSpPr>
        <p:spPr>
          <a:xfrm xmlns:a="http://schemas.openxmlformats.org/drawingml/2006/main">
            <a:off x="96012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sensor disconnected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trial spilled or broke</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Timing was interrupted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The procedure changed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The value is unusual and needs attention</a:t>
            </a:r>
          </a:p>
        </p:txBody>
      </p:sp>
      <p:sp>
        <p:nvSpPr>
          <p:cNvPr id="308" name="Google Shape;308;p14">
            <a:extLst xmlns:a="http://schemas.openxmlformats.org/drawingml/2006/main">
              <a:ext uri="{FF2B5EF4-FFF2-40B4-BE49-F238E27FC236}">
                <a16:creationId xmlns:a16="http://schemas.microsoft.com/office/drawing/2014/main" id="{24FFF479-55C2-4DBA-B4CC-E99B873382B6}"/>
              </a:ext>
            </a:extLst>
          </p:cNvPr>
          <p:cNvSpPr>
            <a:spLocks xmlns:a="http://schemas.openxmlformats.org/drawingml/2006/main" noGrp="1"/>
          </p:cNvSpPr>
          <p:nvPr/>
        </p:nvSpPr>
        <p:spPr>
          <a:xfrm xmlns:a="http://schemas.openxmlformats.org/drawingml/2006/main">
            <a:off x="658368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It hurts your hypothesis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It is lower than expected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It makes the graph messier</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You do not like the result</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You forgot to predict it</a:t>
            </a:r>
          </a:p>
        </p:txBody>
      </p:sp>
      <p:sp>
        <p:nvSpPr>
          <p:cNvPr id="309" name="Google Shape;309;p14">
            <a:extLst xmlns:a="http://schemas.openxmlformats.org/drawingml/2006/main">
              <a:ext uri="{FF2B5EF4-FFF2-40B4-BE49-F238E27FC236}">
                <a16:creationId xmlns:a16="http://schemas.microsoft.com/office/drawing/2014/main" id="{932C7D82-B698-4D0A-9838-77F763D413FF}"/>
              </a:ext>
            </a:extLst>
          </p:cNvPr>
          <p:cNvSpPr>
            <a:spLocks xmlns:a="http://schemas.openxmlformats.org/drawingml/2006/main" noGrp="1"/>
          </p:cNvSpPr>
          <p:nvPr/>
        </p:nvSpPr>
        <p:spPr>
          <a:xfrm xmlns:a="http://schemas.openxmlformats.org/drawingml/2006/main">
            <a:off x="822960" y="6080760"/>
            <a:ext cx="105613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700"/>
              <a:buFont typeface="Arial"/>
              <a:buNone/>
            </a:pPr>
            <a:r>
              <a:rPr sz="1700" b="0" i="0" u="none" cap="none">
                <a:solidFill>
                  <a:srgbClr val="B8B8B8"/>
                </a:solidFill>
                <a:latin typeface="Arial"/>
                <a:ea typeface="Arial"/>
                <a:cs typeface="Arial"/>
              </a:rPr>
              <a:t>A flagged data point remains visible and explainable.</a:t>
            </a:r>
          </a:p>
        </p:txBody>
      </p:sp>
    </p:spTree>
    <p:extLst>
      <p:ext uri="{BB962C8B-B14F-4D97-AF65-F5344CB8AC3E}">
        <p14:creationId xmlns:p14="http://schemas.microsoft.com/office/powerpoint/2010/main" val="555752351"/>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43" name="Google Shape;315;p15"/>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44" name="Google Shape;316;p15"/>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317" name="Google Shape;317;p15">
            <a:extLst xmlns:a="http://schemas.openxmlformats.org/drawingml/2006/main">
              <a:ext uri="{FF2B5EF4-FFF2-40B4-BE49-F238E27FC236}">
                <a16:creationId xmlns:a16="http://schemas.microsoft.com/office/drawing/2014/main" id="{B9FC3A76-029E-444D-9EF0-501E13D5C576}"/>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18" name="Google Shape;318;p15">
            <a:extLst xmlns:a="http://schemas.openxmlformats.org/drawingml/2006/main">
              <a:ext uri="{FF2B5EF4-FFF2-40B4-BE49-F238E27FC236}">
                <a16:creationId xmlns:a16="http://schemas.microsoft.com/office/drawing/2014/main" id="{4162C05C-1E8D-48BD-9015-3E5BE7F0AEA5}"/>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19" name="Google Shape;319;p15">
            <a:extLst xmlns:a="http://schemas.openxmlformats.org/drawingml/2006/main">
              <a:ext uri="{FF2B5EF4-FFF2-40B4-BE49-F238E27FC236}">
                <a16:creationId xmlns:a16="http://schemas.microsoft.com/office/drawing/2014/main" id="{41D20378-D221-4CF0-86D1-C0130FE654F8}"/>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20" name="Google Shape;320;p15">
            <a:extLst xmlns:a="http://schemas.openxmlformats.org/drawingml/2006/main">
              <a:ext uri="{FF2B5EF4-FFF2-40B4-BE49-F238E27FC236}">
                <a16:creationId xmlns:a16="http://schemas.microsoft.com/office/drawing/2014/main" id="{67BC90C0-4897-4A31-955B-566C687DC6E5}"/>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Missing data becomes a limitation</a:t>
            </a:r>
          </a:p>
        </p:txBody>
      </p:sp>
      <p:cxnSp>
        <p:nvCxnSpPr>
          <p:cNvPr id="349" name="Google Shape;321;p15"/>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22" name="Google Shape;322;p15">
            <a:extLst xmlns:a="http://schemas.openxmlformats.org/drawingml/2006/main">
              <a:ext uri="{FF2B5EF4-FFF2-40B4-BE49-F238E27FC236}">
                <a16:creationId xmlns:a16="http://schemas.microsoft.com/office/drawing/2014/main" id="{59B8D02B-CB79-4050-AC42-76EF38AA34CE}"/>
              </a:ext>
            </a:extLst>
          </p:cNvPr>
          <p:cNvSpPr>
            <a:spLocks xmlns:a="http://schemas.openxmlformats.org/drawingml/2006/main" noGrp="1"/>
          </p:cNvSpPr>
          <p:nvPr/>
        </p:nvSpPr>
        <p:spPr>
          <a:xfrm xmlns:a="http://schemas.openxmlformats.org/drawingml/2006/main">
            <a:off x="777240" y="1828800"/>
            <a:ext cx="5120640" cy="15087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3" name="Google Shape;323;p15">
            <a:extLst xmlns:a="http://schemas.openxmlformats.org/drawingml/2006/main">
              <a:ext uri="{FF2B5EF4-FFF2-40B4-BE49-F238E27FC236}">
                <a16:creationId xmlns:a16="http://schemas.microsoft.com/office/drawing/2014/main" id="{C86B3965-2C8D-48B5-9CD7-418286EEDC32}"/>
              </a:ext>
            </a:extLst>
          </p:cNvPr>
          <p:cNvSpPr>
            <a:spLocks xmlns:a="http://schemas.openxmlformats.org/drawingml/2006/main" noGrp="1"/>
          </p:cNvSpPr>
          <p:nvPr/>
        </p:nvSpPr>
        <p:spPr>
          <a:xfrm xmlns:a="http://schemas.openxmlformats.org/drawingml/2006/main">
            <a:off x="777240" y="1828800"/>
            <a:ext cx="73152" cy="150876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4" name="Google Shape;324;p15">
            <a:extLst xmlns:a="http://schemas.openxmlformats.org/drawingml/2006/main">
              <a:ext uri="{FF2B5EF4-FFF2-40B4-BE49-F238E27FC236}">
                <a16:creationId xmlns:a16="http://schemas.microsoft.com/office/drawing/2014/main" id="{012962FE-1301-4096-81B0-03B00C89A3FE}"/>
              </a:ext>
            </a:extLst>
          </p:cNvPr>
          <p:cNvSpPr>
            <a:spLocks xmlns:a="http://schemas.openxmlformats.org/drawingml/2006/main" noGrp="1"/>
          </p:cNvSpPr>
          <p:nvPr/>
        </p:nvSpPr>
        <p:spPr>
          <a:xfrm xmlns:a="http://schemas.openxmlformats.org/drawingml/2006/main">
            <a:off x="978408" y="1993392"/>
            <a:ext cx="4800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MISSING DATA</a:t>
            </a:r>
          </a:p>
        </p:txBody>
      </p:sp>
      <p:sp>
        <p:nvSpPr>
          <p:cNvPr id="325" name="Google Shape;325;p15">
            <a:extLst xmlns:a="http://schemas.openxmlformats.org/drawingml/2006/main">
              <a:ext uri="{FF2B5EF4-FFF2-40B4-BE49-F238E27FC236}">
                <a16:creationId xmlns:a16="http://schemas.microsoft.com/office/drawing/2014/main" id="{683867BE-5C2A-4F83-AA27-278AEF11E039}"/>
              </a:ext>
            </a:extLst>
          </p:cNvPr>
          <p:cNvSpPr>
            <a:spLocks xmlns:a="http://schemas.openxmlformats.org/drawingml/2006/main" noGrp="1"/>
          </p:cNvSpPr>
          <p:nvPr/>
        </p:nvSpPr>
        <p:spPr>
          <a:xfrm xmlns:a="http://schemas.openxmlformats.org/drawingml/2006/main">
            <a:off x="978408" y="2331720"/>
            <a:ext cx="4800600" cy="8869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A planned measurement, trial, condition, sample, or file that does not exist or cannot be trusted.</a:t>
            </a:r>
          </a:p>
        </p:txBody>
      </p:sp>
      <p:sp>
        <p:nvSpPr>
          <p:cNvPr id="326" name="Google Shape;326;p15">
            <a:extLst xmlns:a="http://schemas.openxmlformats.org/drawingml/2006/main">
              <a:ext uri="{FF2B5EF4-FFF2-40B4-BE49-F238E27FC236}">
                <a16:creationId xmlns:a16="http://schemas.microsoft.com/office/drawing/2014/main" id="{5CC238A8-D604-4A8D-9C31-FAFC062C2511}"/>
              </a:ext>
            </a:extLst>
          </p:cNvPr>
          <p:cNvSpPr>
            <a:spLocks xmlns:a="http://schemas.openxmlformats.org/drawingml/2006/main" noGrp="1"/>
          </p:cNvSpPr>
          <p:nvPr/>
        </p:nvSpPr>
        <p:spPr>
          <a:xfrm xmlns:a="http://schemas.openxmlformats.org/drawingml/2006/main">
            <a:off x="6309360" y="1828800"/>
            <a:ext cx="4983480" cy="15087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7" name="Google Shape;327;p15">
            <a:extLst xmlns:a="http://schemas.openxmlformats.org/drawingml/2006/main">
              <a:ext uri="{FF2B5EF4-FFF2-40B4-BE49-F238E27FC236}">
                <a16:creationId xmlns:a16="http://schemas.microsoft.com/office/drawing/2014/main" id="{603BD19D-5C11-4278-9BD1-B8063D49B35F}"/>
              </a:ext>
            </a:extLst>
          </p:cNvPr>
          <p:cNvSpPr>
            <a:spLocks xmlns:a="http://schemas.openxmlformats.org/drawingml/2006/main" noGrp="1"/>
          </p:cNvSpPr>
          <p:nvPr/>
        </p:nvSpPr>
        <p:spPr>
          <a:xfrm xmlns:a="http://schemas.openxmlformats.org/drawingml/2006/main">
            <a:off x="6309360" y="1828800"/>
            <a:ext cx="73152" cy="15087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8" name="Google Shape;328;p15">
            <a:extLst xmlns:a="http://schemas.openxmlformats.org/drawingml/2006/main">
              <a:ext uri="{FF2B5EF4-FFF2-40B4-BE49-F238E27FC236}">
                <a16:creationId xmlns:a16="http://schemas.microsoft.com/office/drawing/2014/main" id="{643B9D65-5B07-451F-A106-E7D31F257D92}"/>
              </a:ext>
            </a:extLst>
          </p:cNvPr>
          <p:cNvSpPr>
            <a:spLocks xmlns:a="http://schemas.openxmlformats.org/drawingml/2006/main" noGrp="1"/>
          </p:cNvSpPr>
          <p:nvPr/>
        </p:nvSpPr>
        <p:spPr>
          <a:xfrm xmlns:a="http://schemas.openxmlformats.org/drawingml/2006/main">
            <a:off x="6510528" y="1993392"/>
            <a:ext cx="46634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LIMITATION LANGUAGE</a:t>
            </a:r>
          </a:p>
        </p:txBody>
      </p:sp>
      <p:sp>
        <p:nvSpPr>
          <p:cNvPr id="329" name="Google Shape;329;p15">
            <a:extLst xmlns:a="http://schemas.openxmlformats.org/drawingml/2006/main">
              <a:ext uri="{FF2B5EF4-FFF2-40B4-BE49-F238E27FC236}">
                <a16:creationId xmlns:a16="http://schemas.microsoft.com/office/drawing/2014/main" id="{AA265A35-27B8-4ADC-A3F5-992B9A638742}"/>
              </a:ext>
            </a:extLst>
          </p:cNvPr>
          <p:cNvSpPr>
            <a:spLocks xmlns:a="http://schemas.openxmlformats.org/drawingml/2006/main" noGrp="1"/>
          </p:cNvSpPr>
          <p:nvPr/>
        </p:nvSpPr>
        <p:spPr>
          <a:xfrm xmlns:a="http://schemas.openxmlformats.org/drawingml/2006/main">
            <a:off x="6510528" y="2331720"/>
            <a:ext cx="4663440" cy="8869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“Because only two trials were completed for Condition B, comparisons with Condition A should be interpreted cautiously.”</a:t>
            </a:r>
          </a:p>
        </p:txBody>
      </p:sp>
      <p:sp>
        <p:nvSpPr>
          <p:cNvPr id="330" name="Google Shape;330;p15">
            <a:extLst xmlns:a="http://schemas.openxmlformats.org/drawingml/2006/main">
              <a:ext uri="{FF2B5EF4-FFF2-40B4-BE49-F238E27FC236}">
                <a16:creationId xmlns:a16="http://schemas.microsoft.com/office/drawing/2014/main" id="{CD96F57C-75BC-469B-B63E-7A457F03758F}"/>
              </a:ext>
            </a:extLst>
          </p:cNvPr>
          <p:cNvSpPr>
            <a:spLocks xmlns:a="http://schemas.openxmlformats.org/drawingml/2006/main" noGrp="1"/>
          </p:cNvSpPr>
          <p:nvPr/>
        </p:nvSpPr>
        <p:spPr>
          <a:xfrm xmlns:a="http://schemas.openxmlformats.org/drawingml/2006/main">
            <a:off x="777250" y="3794746"/>
            <a:ext cx="10515600" cy="249030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1" name="Google Shape;331;p15">
            <a:extLst xmlns:a="http://schemas.openxmlformats.org/drawingml/2006/main">
              <a:ext uri="{FF2B5EF4-FFF2-40B4-BE49-F238E27FC236}">
                <a16:creationId xmlns:a16="http://schemas.microsoft.com/office/drawing/2014/main" id="{23A5FF5D-4CC5-4EBB-9E41-51E0925B80A7}"/>
              </a:ext>
            </a:extLst>
          </p:cNvPr>
          <p:cNvSpPr>
            <a:spLocks xmlns:a="http://schemas.openxmlformats.org/drawingml/2006/main" noGrp="1"/>
          </p:cNvSpPr>
          <p:nvPr/>
        </p:nvSpPr>
        <p:spPr>
          <a:xfrm xmlns:a="http://schemas.openxmlformats.org/drawingml/2006/main">
            <a:off x="1005840" y="402336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2" name="Google Shape;332;p15">
            <a:extLst xmlns:a="http://schemas.openxmlformats.org/drawingml/2006/main">
              <a:ext uri="{FF2B5EF4-FFF2-40B4-BE49-F238E27FC236}">
                <a16:creationId xmlns:a16="http://schemas.microsoft.com/office/drawing/2014/main" id="{E1123A12-2246-4294-888B-1917745979A6}"/>
              </a:ext>
            </a:extLst>
          </p:cNvPr>
          <p:cNvSpPr>
            <a:spLocks xmlns:a="http://schemas.openxmlformats.org/drawingml/2006/main" noGrp="1"/>
          </p:cNvSpPr>
          <p:nvPr/>
        </p:nvSpPr>
        <p:spPr>
          <a:xfrm xmlns:a="http://schemas.openxmlformats.org/drawingml/2006/main">
            <a:off x="1051560" y="407822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333" name="Google Shape;333;p15">
            <a:extLst xmlns:a="http://schemas.openxmlformats.org/drawingml/2006/main">
              <a:ext uri="{FF2B5EF4-FFF2-40B4-BE49-F238E27FC236}">
                <a16:creationId xmlns:a16="http://schemas.microsoft.com/office/drawing/2014/main" id="{44B7E246-0461-4593-B0AA-8D05802704D5}"/>
              </a:ext>
            </a:extLst>
          </p:cNvPr>
          <p:cNvSpPr>
            <a:spLocks xmlns:a="http://schemas.openxmlformats.org/drawingml/2006/main" noGrp="1"/>
          </p:cNvSpPr>
          <p:nvPr/>
        </p:nvSpPr>
        <p:spPr>
          <a:xfrm xmlns:a="http://schemas.openxmlformats.org/drawingml/2006/main">
            <a:off x="1005840" y="4453128"/>
            <a:ext cx="100584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Decision point</a:t>
            </a:r>
          </a:p>
        </p:txBody>
      </p:sp>
      <p:sp>
        <p:nvSpPr>
          <p:cNvPr id="334" name="Google Shape;334;p15">
            <a:extLst xmlns:a="http://schemas.openxmlformats.org/drawingml/2006/main">
              <a:ext uri="{FF2B5EF4-FFF2-40B4-BE49-F238E27FC236}">
                <a16:creationId xmlns:a16="http://schemas.microsoft.com/office/drawing/2014/main" id="{EF487F58-CCF5-4EBB-9F1E-7E3E0C5E4C7C}"/>
              </a:ext>
            </a:extLst>
          </p:cNvPr>
          <p:cNvSpPr>
            <a:spLocks xmlns:a="http://schemas.openxmlformats.org/drawingml/2006/main" noGrp="1"/>
          </p:cNvSpPr>
          <p:nvPr/>
        </p:nvSpPr>
        <p:spPr>
          <a:xfrm xmlns:a="http://schemas.openxmlformats.org/drawingml/2006/main">
            <a:off x="1033272" y="4873752"/>
            <a:ext cx="100035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Day 4 • Student Handout 4: Week 17 Data Audit; Appendix B: Data Cleaning Rules</a:t>
            </a:r>
          </a:p>
        </p:txBody>
      </p:sp>
      <p:sp>
        <p:nvSpPr>
          <p:cNvPr id="335" name="Google Shape;335;p15">
            <a:extLst xmlns:a="http://schemas.openxmlformats.org/drawingml/2006/main">
              <a:ext uri="{FF2B5EF4-FFF2-40B4-BE49-F238E27FC236}">
                <a16:creationId xmlns:a16="http://schemas.microsoft.com/office/drawing/2014/main" id="{5C19661F-CF3D-4AF2-B5E7-51B26C1D3E89}"/>
              </a:ext>
            </a:extLst>
          </p:cNvPr>
          <p:cNvSpPr>
            <a:spLocks xmlns:a="http://schemas.openxmlformats.org/drawingml/2006/main" noGrp="1"/>
          </p:cNvSpPr>
          <p:nvPr/>
        </p:nvSpPr>
        <p:spPr>
          <a:xfrm xmlns:a="http://schemas.openxmlformats.org/drawingml/2006/main" flipH="1">
            <a:off x="1097275" y="5129736"/>
            <a:ext cx="9829800" cy="110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Can the missing data still be collected safely and honestly?</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If not, how will you describe the limitation?</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Does your research question need to become narrower?</a:t>
            </a:r>
          </a:p>
        </p:txBody>
      </p:sp>
    </p:spTree>
    <p:extLst>
      <p:ext uri="{BB962C8B-B14F-4D97-AF65-F5344CB8AC3E}">
        <p14:creationId xmlns:p14="http://schemas.microsoft.com/office/powerpoint/2010/main" val="2038198664"/>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65" name="Google Shape;341;p16"/>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66" name="Google Shape;342;p16"/>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343" name="Google Shape;343;p16">
            <a:extLst xmlns:a="http://schemas.openxmlformats.org/drawingml/2006/main">
              <a:ext uri="{FF2B5EF4-FFF2-40B4-BE49-F238E27FC236}">
                <a16:creationId xmlns:a16="http://schemas.microsoft.com/office/drawing/2014/main" id="{7012D3C3-57AD-4180-A308-1E5BCF19654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44" name="Google Shape;344;p16">
            <a:extLst xmlns:a="http://schemas.openxmlformats.org/drawingml/2006/main">
              <a:ext uri="{FF2B5EF4-FFF2-40B4-BE49-F238E27FC236}">
                <a16:creationId xmlns:a16="http://schemas.microsoft.com/office/drawing/2014/main" id="{0EFC3C22-D880-47E9-B5AD-8D0948109C18}"/>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45" name="Google Shape;345;p16">
            <a:extLst xmlns:a="http://schemas.openxmlformats.org/drawingml/2006/main">
              <a:ext uri="{FF2B5EF4-FFF2-40B4-BE49-F238E27FC236}">
                <a16:creationId xmlns:a16="http://schemas.microsoft.com/office/drawing/2014/main" id="{2FE5C4B9-2E5C-4E1C-B3F8-1B1FE4175D2D}"/>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46" name="Google Shape;346;p16">
            <a:extLst xmlns:a="http://schemas.openxmlformats.org/drawingml/2006/main">
              <a:ext uri="{FF2B5EF4-FFF2-40B4-BE49-F238E27FC236}">
                <a16:creationId xmlns:a16="http://schemas.microsoft.com/office/drawing/2014/main" id="{A1C85BD9-ED55-4656-A3B6-F1CCDCD0D60B}"/>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File organization that future-you will understand</a:t>
            </a:r>
          </a:p>
        </p:txBody>
      </p:sp>
      <p:cxnSp>
        <p:nvCxnSpPr>
          <p:cNvPr id="371" name="Google Shape;347;p16"/>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48" name="Google Shape;348;p16">
            <a:extLst xmlns:a="http://schemas.openxmlformats.org/drawingml/2006/main">
              <a:ext uri="{FF2B5EF4-FFF2-40B4-BE49-F238E27FC236}">
                <a16:creationId xmlns:a16="http://schemas.microsoft.com/office/drawing/2014/main" id="{FD1A6004-3660-4495-B088-9FB137F5B16D}"/>
              </a:ext>
            </a:extLst>
          </p:cNvPr>
          <p:cNvSpPr>
            <a:spLocks xmlns:a="http://schemas.openxmlformats.org/drawingml/2006/main" noGrp="1"/>
          </p:cNvSpPr>
          <p:nvPr/>
        </p:nvSpPr>
        <p:spPr>
          <a:xfrm xmlns:a="http://schemas.openxmlformats.org/drawingml/2006/main">
            <a:off x="777240" y="1737360"/>
            <a:ext cx="5212080" cy="42976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49" name="Google Shape;349;p16">
            <a:extLst xmlns:a="http://schemas.openxmlformats.org/drawingml/2006/main">
              <a:ext uri="{FF2B5EF4-FFF2-40B4-BE49-F238E27FC236}">
                <a16:creationId xmlns:a16="http://schemas.microsoft.com/office/drawing/2014/main" id="{877E0FD2-2F20-4336-8E8F-CFC3C2C38AD9}"/>
              </a:ext>
            </a:extLst>
          </p:cNvPr>
          <p:cNvSpPr>
            <a:spLocks xmlns:a="http://schemas.openxmlformats.org/drawingml/2006/main" noGrp="1"/>
          </p:cNvSpPr>
          <p:nvPr/>
        </p:nvSpPr>
        <p:spPr>
          <a:xfrm xmlns:a="http://schemas.openxmlformats.org/drawingml/2006/main">
            <a:off x="1024128" y="1965960"/>
            <a:ext cx="466344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900"/>
              <a:buFont typeface="Play"/>
              <a:buNone/>
            </a:pPr>
            <a:r>
              <a:rPr sz="1900" b="1" i="0" u="none" cap="none">
                <a:solidFill>
                  <a:srgbClr val="ED1C24"/>
                </a:solidFill>
                <a:latin typeface="Play"/>
                <a:ea typeface="Play"/>
                <a:cs typeface="Play"/>
              </a:rPr>
              <a:t>Suggested folder structure</a:t>
            </a:r>
          </a:p>
        </p:txBody>
      </p:sp>
      <p:sp>
        <p:nvSpPr>
          <p:cNvPr id="350" name="Google Shape;350;p16">
            <a:extLst xmlns:a="http://schemas.openxmlformats.org/drawingml/2006/main">
              <a:ext uri="{FF2B5EF4-FFF2-40B4-BE49-F238E27FC236}">
                <a16:creationId xmlns:a16="http://schemas.microsoft.com/office/drawing/2014/main" id="{7CFAD714-80E9-4331-B887-0887BACC76DF}"/>
              </a:ext>
            </a:extLst>
          </p:cNvPr>
          <p:cNvSpPr>
            <a:spLocks xmlns:a="http://schemas.openxmlformats.org/drawingml/2006/main" noGrp="1"/>
          </p:cNvSpPr>
          <p:nvPr/>
        </p:nvSpPr>
        <p:spPr>
          <a:xfrm xmlns:a="http://schemas.openxmlformats.org/drawingml/2006/main">
            <a:off x="1097280" y="2606040"/>
            <a:ext cx="448056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Project Plan/</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Research Journal/</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Raw Data/</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Clean Data/</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Images &amp; Videos/</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Mentor Feedback/</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Draft Reports/</a:t>
            </a:r>
          </a:p>
        </p:txBody>
      </p:sp>
      <p:sp>
        <p:nvSpPr>
          <p:cNvPr id="351" name="Google Shape;351;p16">
            <a:extLst xmlns:a="http://schemas.openxmlformats.org/drawingml/2006/main">
              <a:ext uri="{FF2B5EF4-FFF2-40B4-BE49-F238E27FC236}">
                <a16:creationId xmlns:a16="http://schemas.microsoft.com/office/drawing/2014/main" id="{5AFFA53A-38BB-4095-A198-125C92C1C501}"/>
              </a:ext>
            </a:extLst>
          </p:cNvPr>
          <p:cNvSpPr>
            <a:spLocks xmlns:a="http://schemas.openxmlformats.org/drawingml/2006/main" noGrp="1"/>
          </p:cNvSpPr>
          <p:nvPr/>
        </p:nvSpPr>
        <p:spPr>
          <a:xfrm xmlns:a="http://schemas.openxmlformats.org/drawingml/2006/main">
            <a:off x="6309360" y="1737360"/>
            <a:ext cx="4983480" cy="42976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2" name="Google Shape;352;p16">
            <a:extLst xmlns:a="http://schemas.openxmlformats.org/drawingml/2006/main">
              <a:ext uri="{FF2B5EF4-FFF2-40B4-BE49-F238E27FC236}">
                <a16:creationId xmlns:a16="http://schemas.microsoft.com/office/drawing/2014/main" id="{655916B6-2E64-4665-B0AC-2CA4250B2E00}"/>
              </a:ext>
            </a:extLst>
          </p:cNvPr>
          <p:cNvSpPr>
            <a:spLocks xmlns:a="http://schemas.openxmlformats.org/drawingml/2006/main" noGrp="1"/>
          </p:cNvSpPr>
          <p:nvPr/>
        </p:nvSpPr>
        <p:spPr>
          <a:xfrm xmlns:a="http://schemas.openxmlformats.org/drawingml/2006/main">
            <a:off x="6583680" y="1965960"/>
            <a:ext cx="448056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900"/>
              <a:buFont typeface="Play"/>
              <a:buNone/>
            </a:pPr>
            <a:r>
              <a:rPr sz="1900" b="1" i="0" u="none" cap="none">
                <a:solidFill>
                  <a:srgbClr val="ED1C24"/>
                </a:solidFill>
                <a:latin typeface="Play"/>
                <a:ea typeface="Play"/>
                <a:cs typeface="Play"/>
              </a:rPr>
              <a:t>File naming rule</a:t>
            </a:r>
          </a:p>
        </p:txBody>
      </p:sp>
      <p:sp>
        <p:nvSpPr>
          <p:cNvPr id="353" name="Google Shape;353;p16">
            <a:extLst xmlns:a="http://schemas.openxmlformats.org/drawingml/2006/main">
              <a:ext uri="{FF2B5EF4-FFF2-40B4-BE49-F238E27FC236}">
                <a16:creationId xmlns:a16="http://schemas.microsoft.com/office/drawing/2014/main" id="{802A713C-5E33-4A87-AB22-2DF844605233}"/>
              </a:ext>
            </a:extLst>
          </p:cNvPr>
          <p:cNvSpPr>
            <a:spLocks xmlns:a="http://schemas.openxmlformats.org/drawingml/2006/main" noGrp="1"/>
          </p:cNvSpPr>
          <p:nvPr/>
        </p:nvSpPr>
        <p:spPr>
          <a:xfrm xmlns:a="http://schemas.openxmlformats.org/drawingml/2006/main">
            <a:off x="6583680" y="2651760"/>
            <a:ext cx="4389120" cy="1645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StudentLastName_Project_Data_Raw</a:t>
            </a:r>
          </a:p>
          <a:p xmlns:a="http://schemas.openxmlformats.org/drawingml/2006/main">
            <a:pPr marL="0" marR="0" indent="0" algn="l">
              <a:lnSpc>
                <a:spcPct val="100000"/>
              </a:lnSpc>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StudentLastName_Project_Data_Clean</a:t>
            </a:r>
          </a:p>
          <a:p xmlns:a="http://schemas.openxmlformats.org/drawingml/2006/main">
            <a:pPr marL="0" marR="0" indent="0" algn="l">
              <a:lnSpc>
                <a:spcPct val="100000"/>
              </a:lnSpc>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StudentLastName_Project_DecisionLog</a:t>
            </a:r>
          </a:p>
          <a:p xmlns:a="http://schemas.openxmlformats.org/drawingml/2006/main">
            <a:pPr marL="0" marR="0" indent="0" algn="l">
              <a:lnSpc>
                <a:spcPct val="100000"/>
              </a:lnSpc>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StudentLastName_Project_Photos</a:t>
            </a:r>
          </a:p>
        </p:txBody>
      </p:sp>
      <p:sp>
        <p:nvSpPr>
          <p:cNvPr id="354" name="Google Shape;354;p16">
            <a:extLst xmlns:a="http://schemas.openxmlformats.org/drawingml/2006/main">
              <a:ext uri="{FF2B5EF4-FFF2-40B4-BE49-F238E27FC236}">
                <a16:creationId xmlns:a16="http://schemas.microsoft.com/office/drawing/2014/main" id="{0576BAA1-8B14-49C8-BA63-4C86AA9EE428}"/>
              </a:ext>
            </a:extLst>
          </p:cNvPr>
          <p:cNvSpPr>
            <a:spLocks xmlns:a="http://schemas.openxmlformats.org/drawingml/2006/main" noGrp="1"/>
          </p:cNvSpPr>
          <p:nvPr/>
        </p:nvSpPr>
        <p:spPr>
          <a:xfrm xmlns:a="http://schemas.openxmlformats.org/drawingml/2006/main">
            <a:off x="6583680" y="4754880"/>
            <a:ext cx="4206240" cy="6858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5" name="Google Shape;355;p16">
            <a:extLst xmlns:a="http://schemas.openxmlformats.org/drawingml/2006/main">
              <a:ext uri="{FF2B5EF4-FFF2-40B4-BE49-F238E27FC236}">
                <a16:creationId xmlns:a16="http://schemas.microsoft.com/office/drawing/2014/main" id="{C41A1554-D37C-402C-8147-57FA6619DC78}"/>
              </a:ext>
            </a:extLst>
          </p:cNvPr>
          <p:cNvSpPr>
            <a:spLocks xmlns:a="http://schemas.openxmlformats.org/drawingml/2006/main" noGrp="1"/>
          </p:cNvSpPr>
          <p:nvPr/>
        </p:nvSpPr>
        <p:spPr>
          <a:xfrm xmlns:a="http://schemas.openxmlformats.org/drawingml/2006/main">
            <a:off x="6583680" y="4754880"/>
            <a:ext cx="73152" cy="68580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6" name="Google Shape;356;p16">
            <a:extLst xmlns:a="http://schemas.openxmlformats.org/drawingml/2006/main">
              <a:ext uri="{FF2B5EF4-FFF2-40B4-BE49-F238E27FC236}">
                <a16:creationId xmlns:a16="http://schemas.microsoft.com/office/drawing/2014/main" id="{1E147573-5793-4306-B592-CA7FAC35A9F0}"/>
              </a:ext>
            </a:extLst>
          </p:cNvPr>
          <p:cNvSpPr>
            <a:spLocks xmlns:a="http://schemas.openxmlformats.org/drawingml/2006/main" noGrp="1"/>
          </p:cNvSpPr>
          <p:nvPr/>
        </p:nvSpPr>
        <p:spPr>
          <a:xfrm xmlns:a="http://schemas.openxmlformats.org/drawingml/2006/main">
            <a:off x="6784848" y="4919472"/>
            <a:ext cx="3886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AVOID</a:t>
            </a:r>
          </a:p>
        </p:txBody>
      </p:sp>
      <p:sp>
        <p:nvSpPr>
          <p:cNvPr id="357" name="Google Shape;357;p16">
            <a:extLst xmlns:a="http://schemas.openxmlformats.org/drawingml/2006/main">
              <a:ext uri="{FF2B5EF4-FFF2-40B4-BE49-F238E27FC236}">
                <a16:creationId xmlns:a16="http://schemas.microsoft.com/office/drawing/2014/main" id="{444440F9-EB9D-444D-B913-9DAAC95BE3B2}"/>
              </a:ext>
            </a:extLst>
          </p:cNvPr>
          <p:cNvSpPr>
            <a:spLocks xmlns:a="http://schemas.openxmlformats.org/drawingml/2006/main" noGrp="1"/>
          </p:cNvSpPr>
          <p:nvPr/>
        </p:nvSpPr>
        <p:spPr>
          <a:xfrm xmlns:a="http://schemas.openxmlformats.org/drawingml/2006/main">
            <a:off x="6784848" y="5257800"/>
            <a:ext cx="3886200" cy="640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final_final_REALLYfinal_v8</a:t>
            </a:r>
          </a:p>
        </p:txBody>
      </p:sp>
    </p:spTree>
    <p:extLst>
      <p:ext uri="{BB962C8B-B14F-4D97-AF65-F5344CB8AC3E}">
        <p14:creationId xmlns:p14="http://schemas.microsoft.com/office/powerpoint/2010/main" val="536291888"/>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84" name="Google Shape;363;p17"/>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85" name="Google Shape;364;p17"/>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365" name="Google Shape;365;p17">
            <a:extLst xmlns:a="http://schemas.openxmlformats.org/drawingml/2006/main">
              <a:ext uri="{FF2B5EF4-FFF2-40B4-BE49-F238E27FC236}">
                <a16:creationId xmlns:a16="http://schemas.microsoft.com/office/drawing/2014/main" id="{56735295-BA7B-4487-BBA7-B4732B61B659}"/>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66" name="Google Shape;366;p17">
            <a:extLst xmlns:a="http://schemas.openxmlformats.org/drawingml/2006/main">
              <a:ext uri="{FF2B5EF4-FFF2-40B4-BE49-F238E27FC236}">
                <a16:creationId xmlns:a16="http://schemas.microsoft.com/office/drawing/2014/main" id="{FD8A7AC6-678C-4241-B759-36C1711D5F6B}"/>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67" name="Google Shape;367;p17">
            <a:extLst xmlns:a="http://schemas.openxmlformats.org/drawingml/2006/main">
              <a:ext uri="{FF2B5EF4-FFF2-40B4-BE49-F238E27FC236}">
                <a16:creationId xmlns:a16="http://schemas.microsoft.com/office/drawing/2014/main" id="{06574653-BEA7-43AA-8066-14178CD00649}"/>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68" name="Google Shape;368;p17">
            <a:extLst xmlns:a="http://schemas.openxmlformats.org/drawingml/2006/main">
              <a:ext uri="{FF2B5EF4-FFF2-40B4-BE49-F238E27FC236}">
                <a16:creationId xmlns:a16="http://schemas.microsoft.com/office/drawing/2014/main" id="{E8FC0D4E-4F30-4AD5-BD52-9F98885ADB50}"/>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build your analysis-ready data table</a:t>
            </a:r>
          </a:p>
        </p:txBody>
      </p:sp>
      <p:cxnSp>
        <p:nvCxnSpPr>
          <p:cNvPr id="390" name="Google Shape;369;p17"/>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70" name="Google Shape;370;p17">
            <a:extLst xmlns:a="http://schemas.openxmlformats.org/drawingml/2006/main">
              <a:ext uri="{FF2B5EF4-FFF2-40B4-BE49-F238E27FC236}">
                <a16:creationId xmlns:a16="http://schemas.microsoft.com/office/drawing/2014/main" id="{D6583A85-4443-4503-A1ED-F5AE30531163}"/>
              </a:ext>
            </a:extLst>
          </p:cNvPr>
          <p:cNvSpPr>
            <a:spLocks xmlns:a="http://schemas.openxmlformats.org/drawingml/2006/main" noGrp="1"/>
          </p:cNvSpPr>
          <p:nvPr/>
        </p:nvSpPr>
        <p:spPr>
          <a:xfrm xmlns:a="http://schemas.openxmlformats.org/drawingml/2006/main">
            <a:off x="777240" y="1783080"/>
            <a:ext cx="10607040" cy="388620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71" name="Google Shape;371;p17">
            <a:extLst xmlns:a="http://schemas.openxmlformats.org/drawingml/2006/main">
              <a:ext uri="{FF2B5EF4-FFF2-40B4-BE49-F238E27FC236}">
                <a16:creationId xmlns:a16="http://schemas.microsoft.com/office/drawing/2014/main" id="{1ED32AA2-08FB-43DA-99B6-297BBA9868AC}"/>
              </a:ext>
            </a:extLst>
          </p:cNvPr>
          <p:cNvSpPr>
            <a:spLocks xmlns:a="http://schemas.openxmlformats.org/drawingml/2006/main" noGrp="1"/>
          </p:cNvSpPr>
          <p:nvPr/>
        </p:nvSpPr>
        <p:spPr>
          <a:xfrm xmlns:a="http://schemas.openxmlformats.org/drawingml/2006/main">
            <a:off x="1005840" y="201168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72" name="Google Shape;372;p17">
            <a:extLst xmlns:a="http://schemas.openxmlformats.org/drawingml/2006/main">
              <a:ext uri="{FF2B5EF4-FFF2-40B4-BE49-F238E27FC236}">
                <a16:creationId xmlns:a16="http://schemas.microsoft.com/office/drawing/2014/main" id="{AE464322-58C6-4D58-8811-7148EF4D7782}"/>
              </a:ext>
            </a:extLst>
          </p:cNvPr>
          <p:cNvSpPr>
            <a:spLocks xmlns:a="http://schemas.openxmlformats.org/drawingml/2006/main" noGrp="1"/>
          </p:cNvSpPr>
          <p:nvPr/>
        </p:nvSpPr>
        <p:spPr>
          <a:xfrm xmlns:a="http://schemas.openxmlformats.org/drawingml/2006/main">
            <a:off x="1051560" y="206654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373" name="Google Shape;373;p17">
            <a:extLst xmlns:a="http://schemas.openxmlformats.org/drawingml/2006/main">
              <a:ext uri="{FF2B5EF4-FFF2-40B4-BE49-F238E27FC236}">
                <a16:creationId xmlns:a16="http://schemas.microsoft.com/office/drawing/2014/main" id="{D0469872-7B1A-4DCD-8D4B-842BC0E53D00}"/>
              </a:ext>
            </a:extLst>
          </p:cNvPr>
          <p:cNvSpPr>
            <a:spLocks xmlns:a="http://schemas.openxmlformats.org/drawingml/2006/main" noGrp="1"/>
          </p:cNvSpPr>
          <p:nvPr/>
        </p:nvSpPr>
        <p:spPr>
          <a:xfrm xmlns:a="http://schemas.openxmlformats.org/drawingml/2006/main">
            <a:off x="1005840" y="2441448"/>
            <a:ext cx="101498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Create or revise your clean data table.</a:t>
            </a:r>
          </a:p>
        </p:txBody>
      </p:sp>
      <p:sp>
        <p:nvSpPr>
          <p:cNvPr id="374" name="Google Shape;374;p17">
            <a:extLst xmlns:a="http://schemas.openxmlformats.org/drawingml/2006/main">
              <a:ext uri="{FF2B5EF4-FFF2-40B4-BE49-F238E27FC236}">
                <a16:creationId xmlns:a16="http://schemas.microsoft.com/office/drawing/2014/main" id="{B2311AE5-9B08-4162-B9FA-D27994F0CAB5}"/>
              </a:ext>
            </a:extLst>
          </p:cNvPr>
          <p:cNvSpPr>
            <a:spLocks xmlns:a="http://schemas.openxmlformats.org/drawingml/2006/main" noGrp="1"/>
          </p:cNvSpPr>
          <p:nvPr/>
        </p:nvSpPr>
        <p:spPr>
          <a:xfrm xmlns:a="http://schemas.openxmlformats.org/drawingml/2006/main">
            <a:off x="1033272" y="2862072"/>
            <a:ext cx="1009497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Day 2–3 • Student Handout 2: Clean Data Set Builder; Student Handout 3: Data Cleaning Decision Log</a:t>
            </a:r>
          </a:p>
        </p:txBody>
      </p:sp>
      <p:sp>
        <p:nvSpPr>
          <p:cNvPr id="375" name="Google Shape;375;p17">
            <a:extLst xmlns:a="http://schemas.openxmlformats.org/drawingml/2006/main">
              <a:ext uri="{FF2B5EF4-FFF2-40B4-BE49-F238E27FC236}">
                <a16:creationId xmlns:a16="http://schemas.microsoft.com/office/drawing/2014/main" id="{9B1C3638-EE09-4672-A11B-BD73ABEF0080}"/>
              </a:ext>
            </a:extLst>
          </p:cNvPr>
          <p:cNvSpPr>
            <a:spLocks xmlns:a="http://schemas.openxmlformats.org/drawingml/2006/main" noGrp="1"/>
          </p:cNvSpPr>
          <p:nvPr/>
        </p:nvSpPr>
        <p:spPr>
          <a:xfrm xmlns:a="http://schemas.openxmlformats.org/drawingml/2006/main">
            <a:off x="1097280" y="3319272"/>
            <a:ext cx="9921240" cy="19476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Use one row per trial, sample, observation, or iteration</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Include columns for condition, measurement, unit, and notes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Separate raw measurements from calculated values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Add a flag column for questionable data</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Share the table with a partner and ask: “Could you understand this without me?”</a:t>
            </a:r>
          </a:p>
        </p:txBody>
      </p:sp>
      <p:sp>
        <p:nvSpPr>
          <p:cNvPr id="376" name="Google Shape;376;p17">
            <a:extLst xmlns:a="http://schemas.openxmlformats.org/drawingml/2006/main">
              <a:ext uri="{FF2B5EF4-FFF2-40B4-BE49-F238E27FC236}">
                <a16:creationId xmlns:a16="http://schemas.microsoft.com/office/drawing/2014/main" id="{C6E1DF1E-D1A8-43DC-BB3E-03E70B44317A}"/>
              </a:ext>
            </a:extLst>
          </p:cNvPr>
          <p:cNvSpPr>
            <a:spLocks xmlns:a="http://schemas.openxmlformats.org/drawingml/2006/main" noGrp="1"/>
          </p:cNvSpPr>
          <p:nvPr/>
        </p:nvSpPr>
        <p:spPr>
          <a:xfrm xmlns:a="http://schemas.openxmlformats.org/drawingml/2006/main">
            <a:off x="777240" y="5989320"/>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600"/>
              <a:buFont typeface="Arial"/>
              <a:buNone/>
            </a:pPr>
            <a:r>
              <a:rPr sz="1600" b="0" i="0" u="none" cap="none">
                <a:solidFill>
                  <a:srgbClr val="B8B8B8"/>
                </a:solidFill>
                <a:latin typeface="Arial"/>
                <a:ea typeface="Arial"/>
                <a:cs typeface="Arial"/>
              </a:rPr>
              <a:t>Deliverable: clean data set + one documented cleaning decision.</a:t>
            </a:r>
          </a:p>
        </p:txBody>
      </p:sp>
    </p:spTree>
    <p:extLst>
      <p:ext uri="{BB962C8B-B14F-4D97-AF65-F5344CB8AC3E}">
        <p14:creationId xmlns:p14="http://schemas.microsoft.com/office/powerpoint/2010/main" val="1164540231"/>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401" name="Google Shape;382;p18"/>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402" name="Google Shape;383;p18"/>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384" name="Google Shape;384;p18">
            <a:extLst xmlns:a="http://schemas.openxmlformats.org/drawingml/2006/main">
              <a:ext uri="{FF2B5EF4-FFF2-40B4-BE49-F238E27FC236}">
                <a16:creationId xmlns:a16="http://schemas.microsoft.com/office/drawing/2014/main" id="{0BA4A629-013A-457A-82EA-2B90AE56F24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85" name="Google Shape;385;p18">
            <a:extLst xmlns:a="http://schemas.openxmlformats.org/drawingml/2006/main">
              <a:ext uri="{FF2B5EF4-FFF2-40B4-BE49-F238E27FC236}">
                <a16:creationId xmlns:a16="http://schemas.microsoft.com/office/drawing/2014/main" id="{B2153B54-3EF5-4DE3-93AB-5D8A487845DA}"/>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86" name="Google Shape;386;p18">
            <a:extLst xmlns:a="http://schemas.openxmlformats.org/drawingml/2006/main">
              <a:ext uri="{FF2B5EF4-FFF2-40B4-BE49-F238E27FC236}">
                <a16:creationId xmlns:a16="http://schemas.microsoft.com/office/drawing/2014/main" id="{6CFC0D22-99CF-4E0F-8F0B-1DE176FD8F03}"/>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87" name="Google Shape;387;p18">
            <a:extLst xmlns:a="http://schemas.openxmlformats.org/drawingml/2006/main">
              <a:ext uri="{FF2B5EF4-FFF2-40B4-BE49-F238E27FC236}">
                <a16:creationId xmlns:a16="http://schemas.microsoft.com/office/drawing/2014/main" id="{BAF3A3DB-3C0E-4564-86CC-F1E4C5245E78}"/>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Teacher checkpoint: show me your data</a:t>
            </a:r>
          </a:p>
        </p:txBody>
      </p:sp>
      <p:cxnSp>
        <p:nvCxnSpPr>
          <p:cNvPr id="407" name="Google Shape;388;p18"/>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89" name="Google Shape;389;p18">
            <a:extLst xmlns:a="http://schemas.openxmlformats.org/drawingml/2006/main">
              <a:ext uri="{FF2B5EF4-FFF2-40B4-BE49-F238E27FC236}">
                <a16:creationId xmlns:a16="http://schemas.microsoft.com/office/drawing/2014/main" id="{34826AD7-67BD-425E-A686-72359147AC55}"/>
              </a:ext>
            </a:extLst>
          </p:cNvPr>
          <p:cNvSpPr>
            <a:spLocks xmlns:a="http://schemas.openxmlformats.org/drawingml/2006/main" noGrp="1"/>
          </p:cNvSpPr>
          <p:nvPr/>
        </p:nvSpPr>
        <p:spPr>
          <a:xfrm xmlns:a="http://schemas.openxmlformats.org/drawingml/2006/main">
            <a:off x="914400" y="1828800"/>
            <a:ext cx="5943600" cy="3931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Where is your raw data?</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Where is your clean copy?</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What does each column mean?</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Where are the units?</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Which data are flagged?</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What cleaning decisions did you make?</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What graph or analysis might come next?</a:t>
            </a:r>
          </a:p>
        </p:txBody>
      </p:sp>
      <p:sp>
        <p:nvSpPr>
          <p:cNvPr id="390" name="Google Shape;390;p18">
            <a:extLst xmlns:a="http://schemas.openxmlformats.org/drawingml/2006/main">
              <a:ext uri="{FF2B5EF4-FFF2-40B4-BE49-F238E27FC236}">
                <a16:creationId xmlns:a16="http://schemas.microsoft.com/office/drawing/2014/main" id="{60041C18-EDC2-4C1C-AD7B-BF92C55EB785}"/>
              </a:ext>
            </a:extLst>
          </p:cNvPr>
          <p:cNvSpPr>
            <a:spLocks xmlns:a="http://schemas.openxmlformats.org/drawingml/2006/main" noGrp="1"/>
          </p:cNvSpPr>
          <p:nvPr/>
        </p:nvSpPr>
        <p:spPr>
          <a:xfrm xmlns:a="http://schemas.openxmlformats.org/drawingml/2006/main">
            <a:off x="7132320" y="2286000"/>
            <a:ext cx="4023360" cy="20116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1" name="Google Shape;391;p18">
            <a:extLst xmlns:a="http://schemas.openxmlformats.org/drawingml/2006/main">
              <a:ext uri="{FF2B5EF4-FFF2-40B4-BE49-F238E27FC236}">
                <a16:creationId xmlns:a16="http://schemas.microsoft.com/office/drawing/2014/main" id="{D0C3B112-1C2D-4EC1-A7F3-364D6763E650}"/>
              </a:ext>
            </a:extLst>
          </p:cNvPr>
          <p:cNvSpPr>
            <a:spLocks xmlns:a="http://schemas.openxmlformats.org/drawingml/2006/main" noGrp="1"/>
          </p:cNvSpPr>
          <p:nvPr/>
        </p:nvSpPr>
        <p:spPr>
          <a:xfrm xmlns:a="http://schemas.openxmlformats.org/drawingml/2006/main">
            <a:off x="7132320" y="2286000"/>
            <a:ext cx="73152" cy="201168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2" name="Google Shape;392;p18">
            <a:extLst xmlns:a="http://schemas.openxmlformats.org/drawingml/2006/main">
              <a:ext uri="{FF2B5EF4-FFF2-40B4-BE49-F238E27FC236}">
                <a16:creationId xmlns:a16="http://schemas.microsoft.com/office/drawing/2014/main" id="{C0E3DB58-045A-4BFA-937C-8A473B9A1C4E}"/>
              </a:ext>
            </a:extLst>
          </p:cNvPr>
          <p:cNvSpPr>
            <a:spLocks xmlns:a="http://schemas.openxmlformats.org/drawingml/2006/main" noGrp="1"/>
          </p:cNvSpPr>
          <p:nvPr/>
        </p:nvSpPr>
        <p:spPr>
          <a:xfrm xmlns:a="http://schemas.openxmlformats.org/drawingml/2006/main">
            <a:off x="7333488" y="2450592"/>
            <a:ext cx="37033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PASSING CHECKPOINT</a:t>
            </a:r>
          </a:p>
        </p:txBody>
      </p:sp>
      <p:sp>
        <p:nvSpPr>
          <p:cNvPr id="393" name="Google Shape;393;p18">
            <a:extLst xmlns:a="http://schemas.openxmlformats.org/drawingml/2006/main">
              <a:ext uri="{FF2B5EF4-FFF2-40B4-BE49-F238E27FC236}">
                <a16:creationId xmlns:a16="http://schemas.microsoft.com/office/drawing/2014/main" id="{9C2ED722-69E2-4422-B534-D45F8A7DEA3A}"/>
              </a:ext>
            </a:extLst>
          </p:cNvPr>
          <p:cNvSpPr>
            <a:spLocks xmlns:a="http://schemas.openxmlformats.org/drawingml/2006/main" noGrp="1"/>
          </p:cNvSpPr>
          <p:nvPr/>
        </p:nvSpPr>
        <p:spPr>
          <a:xfrm xmlns:a="http://schemas.openxmlformats.org/drawingml/2006/main">
            <a:off x="7333488" y="2788920"/>
            <a:ext cx="3703320" cy="1389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A teacher or classmate can understand your data organization without a five-minute rescue explanation.</a:t>
            </a:r>
          </a:p>
        </p:txBody>
      </p:sp>
    </p:spTree>
    <p:extLst>
      <p:ext uri="{BB962C8B-B14F-4D97-AF65-F5344CB8AC3E}">
        <p14:creationId xmlns:p14="http://schemas.microsoft.com/office/powerpoint/2010/main" val="1735668347"/>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437" name="Google Shape;399;p19"/>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438" name="Google Shape;400;p19"/>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401" name="Google Shape;401;p19">
            <a:extLst xmlns:a="http://schemas.openxmlformats.org/drawingml/2006/main">
              <a:ext uri="{FF2B5EF4-FFF2-40B4-BE49-F238E27FC236}">
                <a16:creationId xmlns:a16="http://schemas.microsoft.com/office/drawing/2014/main" id="{73869E0E-5172-4851-A9C5-DB113BEE8773}"/>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402" name="Google Shape;402;p19">
            <a:extLst xmlns:a="http://schemas.openxmlformats.org/drawingml/2006/main">
              <a:ext uri="{FF2B5EF4-FFF2-40B4-BE49-F238E27FC236}">
                <a16:creationId xmlns:a16="http://schemas.microsoft.com/office/drawing/2014/main" id="{BD293B92-8CB3-4333-94CB-0E30AE19F318}"/>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403" name="Google Shape;403;p19">
            <a:extLst xmlns:a="http://schemas.openxmlformats.org/drawingml/2006/main">
              <a:ext uri="{FF2B5EF4-FFF2-40B4-BE49-F238E27FC236}">
                <a16:creationId xmlns:a16="http://schemas.microsoft.com/office/drawing/2014/main" id="{264A2B17-2D55-4B9E-8EE0-B27974214939}"/>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404" name="Google Shape;404;p19">
            <a:extLst xmlns:a="http://schemas.openxmlformats.org/drawingml/2006/main">
              <a:ext uri="{FF2B5EF4-FFF2-40B4-BE49-F238E27FC236}">
                <a16:creationId xmlns:a16="http://schemas.microsoft.com/office/drawing/2014/main" id="{12F3288A-56A1-4A42-8502-F2FD5F2E138B}"/>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Common problems to catch before analysis</a:t>
            </a:r>
          </a:p>
        </p:txBody>
      </p:sp>
      <p:cxnSp>
        <p:nvCxnSpPr>
          <p:cNvPr id="443" name="Google Shape;405;p19"/>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406" name="Google Shape;406;p19">
            <a:extLst xmlns:a="http://schemas.openxmlformats.org/drawingml/2006/main">
              <a:ext uri="{FF2B5EF4-FFF2-40B4-BE49-F238E27FC236}">
                <a16:creationId xmlns:a16="http://schemas.microsoft.com/office/drawing/2014/main" id="{C144F80D-D9B3-44F0-8A20-53BDC93CA5FF}"/>
              </a:ext>
            </a:extLst>
          </p:cNvPr>
          <p:cNvSpPr>
            <a:spLocks xmlns:a="http://schemas.openxmlformats.org/drawingml/2006/main" noGrp="1"/>
          </p:cNvSpPr>
          <p:nvPr/>
        </p:nvSpPr>
        <p:spPr>
          <a:xfrm xmlns:a="http://schemas.openxmlformats.org/drawingml/2006/main">
            <a:off x="777240" y="178308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7" name="Google Shape;407;p19">
            <a:extLst xmlns:a="http://schemas.openxmlformats.org/drawingml/2006/main">
              <a:ext uri="{FF2B5EF4-FFF2-40B4-BE49-F238E27FC236}">
                <a16:creationId xmlns:a16="http://schemas.microsoft.com/office/drawing/2014/main" id="{4CEE8F76-36E7-4543-996E-43684CF26D2D}"/>
              </a:ext>
            </a:extLst>
          </p:cNvPr>
          <p:cNvSpPr>
            <a:spLocks xmlns:a="http://schemas.openxmlformats.org/drawingml/2006/main" noGrp="1"/>
          </p:cNvSpPr>
          <p:nvPr/>
        </p:nvSpPr>
        <p:spPr>
          <a:xfrm xmlns:a="http://schemas.openxmlformats.org/drawingml/2006/main">
            <a:off x="960120" y="189280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08" name="Google Shape;408;p19">
            <a:extLst xmlns:a="http://schemas.openxmlformats.org/drawingml/2006/main">
              <a:ext uri="{FF2B5EF4-FFF2-40B4-BE49-F238E27FC236}">
                <a16:creationId xmlns:a16="http://schemas.microsoft.com/office/drawing/2014/main" id="{A8F9D4B4-21B9-4999-B09D-7A863A18FC90}"/>
              </a:ext>
            </a:extLst>
          </p:cNvPr>
          <p:cNvSpPr>
            <a:spLocks xmlns:a="http://schemas.openxmlformats.org/drawingml/2006/main" noGrp="1"/>
          </p:cNvSpPr>
          <p:nvPr/>
        </p:nvSpPr>
        <p:spPr>
          <a:xfrm xmlns:a="http://schemas.openxmlformats.org/drawingml/2006/main">
            <a:off x="1298448" y="188366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Averages recorded but raw values missing</a:t>
            </a:r>
          </a:p>
        </p:txBody>
      </p:sp>
      <p:sp>
        <p:nvSpPr>
          <p:cNvPr id="409" name="Google Shape;409;p19">
            <a:extLst xmlns:a="http://schemas.openxmlformats.org/drawingml/2006/main">
              <a:ext uri="{FF2B5EF4-FFF2-40B4-BE49-F238E27FC236}">
                <a16:creationId xmlns:a16="http://schemas.microsoft.com/office/drawing/2014/main" id="{C5F15185-F464-44BE-AC17-C1226916584F}"/>
              </a:ext>
            </a:extLst>
          </p:cNvPr>
          <p:cNvSpPr>
            <a:spLocks xmlns:a="http://schemas.openxmlformats.org/drawingml/2006/main" noGrp="1"/>
          </p:cNvSpPr>
          <p:nvPr/>
        </p:nvSpPr>
        <p:spPr>
          <a:xfrm xmlns:a="http://schemas.openxmlformats.org/drawingml/2006/main">
            <a:off x="777240" y="274320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0" name="Google Shape;410;p19">
            <a:extLst xmlns:a="http://schemas.openxmlformats.org/drawingml/2006/main">
              <a:ext uri="{FF2B5EF4-FFF2-40B4-BE49-F238E27FC236}">
                <a16:creationId xmlns:a16="http://schemas.microsoft.com/office/drawing/2014/main" id="{B0537F33-E61E-44F3-B626-E401481E7071}"/>
              </a:ext>
            </a:extLst>
          </p:cNvPr>
          <p:cNvSpPr>
            <a:spLocks xmlns:a="http://schemas.openxmlformats.org/drawingml/2006/main" noGrp="1"/>
          </p:cNvSpPr>
          <p:nvPr/>
        </p:nvSpPr>
        <p:spPr>
          <a:xfrm xmlns:a="http://schemas.openxmlformats.org/drawingml/2006/main">
            <a:off x="960120" y="285292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11" name="Google Shape;411;p19">
            <a:extLst xmlns:a="http://schemas.openxmlformats.org/drawingml/2006/main">
              <a:ext uri="{FF2B5EF4-FFF2-40B4-BE49-F238E27FC236}">
                <a16:creationId xmlns:a16="http://schemas.microsoft.com/office/drawing/2014/main" id="{613A0746-250B-45BF-901D-6619B65BD315}"/>
              </a:ext>
            </a:extLst>
          </p:cNvPr>
          <p:cNvSpPr>
            <a:spLocks xmlns:a="http://schemas.openxmlformats.org/drawingml/2006/main" noGrp="1"/>
          </p:cNvSpPr>
          <p:nvPr/>
        </p:nvSpPr>
        <p:spPr>
          <a:xfrm xmlns:a="http://schemas.openxmlformats.org/drawingml/2006/main">
            <a:off x="1298448" y="284378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Different groups have different numbers of trials</a:t>
            </a:r>
          </a:p>
        </p:txBody>
      </p:sp>
      <p:sp>
        <p:nvSpPr>
          <p:cNvPr id="412" name="Google Shape;412;p19">
            <a:extLst xmlns:a="http://schemas.openxmlformats.org/drawingml/2006/main">
              <a:ext uri="{FF2B5EF4-FFF2-40B4-BE49-F238E27FC236}">
                <a16:creationId xmlns:a16="http://schemas.microsoft.com/office/drawing/2014/main" id="{600869A3-3252-427B-BD6A-A37896A92488}"/>
              </a:ext>
            </a:extLst>
          </p:cNvPr>
          <p:cNvSpPr>
            <a:spLocks xmlns:a="http://schemas.openxmlformats.org/drawingml/2006/main" noGrp="1"/>
          </p:cNvSpPr>
          <p:nvPr/>
        </p:nvSpPr>
        <p:spPr>
          <a:xfrm xmlns:a="http://schemas.openxmlformats.org/drawingml/2006/main">
            <a:off x="777240" y="370332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3" name="Google Shape;413;p19">
            <a:extLst xmlns:a="http://schemas.openxmlformats.org/drawingml/2006/main">
              <a:ext uri="{FF2B5EF4-FFF2-40B4-BE49-F238E27FC236}">
                <a16:creationId xmlns:a16="http://schemas.microsoft.com/office/drawing/2014/main" id="{D294DB9B-34B1-4AB9-BBE3-5D0DF05625BE}"/>
              </a:ext>
            </a:extLst>
          </p:cNvPr>
          <p:cNvSpPr>
            <a:spLocks xmlns:a="http://schemas.openxmlformats.org/drawingml/2006/main" noGrp="1"/>
          </p:cNvSpPr>
          <p:nvPr/>
        </p:nvSpPr>
        <p:spPr>
          <a:xfrm xmlns:a="http://schemas.openxmlformats.org/drawingml/2006/main">
            <a:off x="960120" y="381304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14" name="Google Shape;414;p19">
            <a:extLst xmlns:a="http://schemas.openxmlformats.org/drawingml/2006/main">
              <a:ext uri="{FF2B5EF4-FFF2-40B4-BE49-F238E27FC236}">
                <a16:creationId xmlns:a16="http://schemas.microsoft.com/office/drawing/2014/main" id="{DA33BBAD-7E79-413A-8973-6A83610A839D}"/>
              </a:ext>
            </a:extLst>
          </p:cNvPr>
          <p:cNvSpPr>
            <a:spLocks xmlns:a="http://schemas.openxmlformats.org/drawingml/2006/main" noGrp="1"/>
          </p:cNvSpPr>
          <p:nvPr/>
        </p:nvSpPr>
        <p:spPr>
          <a:xfrm xmlns:a="http://schemas.openxmlformats.org/drawingml/2006/main">
            <a:off x="1298448" y="380390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Units change halfway through the table</a:t>
            </a:r>
          </a:p>
        </p:txBody>
      </p:sp>
      <p:sp>
        <p:nvSpPr>
          <p:cNvPr id="415" name="Google Shape;415;p19">
            <a:extLst xmlns:a="http://schemas.openxmlformats.org/drawingml/2006/main">
              <a:ext uri="{FF2B5EF4-FFF2-40B4-BE49-F238E27FC236}">
                <a16:creationId xmlns:a16="http://schemas.microsoft.com/office/drawing/2014/main" id="{8D8BACA9-EDB9-4DD8-9E05-54B405482E2A}"/>
              </a:ext>
            </a:extLst>
          </p:cNvPr>
          <p:cNvSpPr>
            <a:spLocks xmlns:a="http://schemas.openxmlformats.org/drawingml/2006/main" noGrp="1"/>
          </p:cNvSpPr>
          <p:nvPr/>
        </p:nvSpPr>
        <p:spPr>
          <a:xfrm xmlns:a="http://schemas.openxmlformats.org/drawingml/2006/main">
            <a:off x="777240" y="466344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6" name="Google Shape;416;p19">
            <a:extLst xmlns:a="http://schemas.openxmlformats.org/drawingml/2006/main">
              <a:ext uri="{FF2B5EF4-FFF2-40B4-BE49-F238E27FC236}">
                <a16:creationId xmlns:a16="http://schemas.microsoft.com/office/drawing/2014/main" id="{779433CF-8874-4DA8-B5E5-10F2475A9573}"/>
              </a:ext>
            </a:extLst>
          </p:cNvPr>
          <p:cNvSpPr>
            <a:spLocks xmlns:a="http://schemas.openxmlformats.org/drawingml/2006/main" noGrp="1"/>
          </p:cNvSpPr>
          <p:nvPr/>
        </p:nvSpPr>
        <p:spPr>
          <a:xfrm xmlns:a="http://schemas.openxmlformats.org/drawingml/2006/main">
            <a:off x="960120" y="477316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17" name="Google Shape;417;p19">
            <a:extLst xmlns:a="http://schemas.openxmlformats.org/drawingml/2006/main">
              <a:ext uri="{FF2B5EF4-FFF2-40B4-BE49-F238E27FC236}">
                <a16:creationId xmlns:a16="http://schemas.microsoft.com/office/drawing/2014/main" id="{1EFC5538-DA16-4775-98D8-C04967700558}"/>
              </a:ext>
            </a:extLst>
          </p:cNvPr>
          <p:cNvSpPr>
            <a:spLocks xmlns:a="http://schemas.openxmlformats.org/drawingml/2006/main" noGrp="1"/>
          </p:cNvSpPr>
          <p:nvPr/>
        </p:nvSpPr>
        <p:spPr>
          <a:xfrm xmlns:a="http://schemas.openxmlformats.org/drawingml/2006/main">
            <a:off x="1298448" y="476402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The procedure changed without a note</a:t>
            </a:r>
          </a:p>
        </p:txBody>
      </p:sp>
      <p:sp>
        <p:nvSpPr>
          <p:cNvPr id="418" name="Google Shape;418;p19">
            <a:extLst xmlns:a="http://schemas.openxmlformats.org/drawingml/2006/main">
              <a:ext uri="{FF2B5EF4-FFF2-40B4-BE49-F238E27FC236}">
                <a16:creationId xmlns:a16="http://schemas.microsoft.com/office/drawing/2014/main" id="{728723C8-F051-484C-8E90-7DC0D7DE24FB}"/>
              </a:ext>
            </a:extLst>
          </p:cNvPr>
          <p:cNvSpPr>
            <a:spLocks xmlns:a="http://schemas.openxmlformats.org/drawingml/2006/main" noGrp="1"/>
          </p:cNvSpPr>
          <p:nvPr/>
        </p:nvSpPr>
        <p:spPr>
          <a:xfrm xmlns:a="http://schemas.openxmlformats.org/drawingml/2006/main">
            <a:off x="6263640" y="178308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9" name="Google Shape;419;p19">
            <a:extLst xmlns:a="http://schemas.openxmlformats.org/drawingml/2006/main">
              <a:ext uri="{FF2B5EF4-FFF2-40B4-BE49-F238E27FC236}">
                <a16:creationId xmlns:a16="http://schemas.microsoft.com/office/drawing/2014/main" id="{1552A6C2-2C72-4E94-B252-26484EA90940}"/>
              </a:ext>
            </a:extLst>
          </p:cNvPr>
          <p:cNvSpPr>
            <a:spLocks xmlns:a="http://schemas.openxmlformats.org/drawingml/2006/main" noGrp="1"/>
          </p:cNvSpPr>
          <p:nvPr/>
        </p:nvSpPr>
        <p:spPr>
          <a:xfrm xmlns:a="http://schemas.openxmlformats.org/drawingml/2006/main">
            <a:off x="6446520" y="189280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20" name="Google Shape;420;p19">
            <a:extLst xmlns:a="http://schemas.openxmlformats.org/drawingml/2006/main">
              <a:ext uri="{FF2B5EF4-FFF2-40B4-BE49-F238E27FC236}">
                <a16:creationId xmlns:a16="http://schemas.microsoft.com/office/drawing/2014/main" id="{88914034-B843-4995-B6BD-6996A25AB406}"/>
              </a:ext>
            </a:extLst>
          </p:cNvPr>
          <p:cNvSpPr>
            <a:spLocks xmlns:a="http://schemas.openxmlformats.org/drawingml/2006/main" noGrp="1"/>
          </p:cNvSpPr>
          <p:nvPr/>
        </p:nvSpPr>
        <p:spPr>
          <a:xfrm xmlns:a="http://schemas.openxmlformats.org/drawingml/2006/main">
            <a:off x="6784848" y="188366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Photos are not connected to trial numbers</a:t>
            </a:r>
          </a:p>
        </p:txBody>
      </p:sp>
      <p:sp>
        <p:nvSpPr>
          <p:cNvPr id="421" name="Google Shape;421;p19">
            <a:extLst xmlns:a="http://schemas.openxmlformats.org/drawingml/2006/main">
              <a:ext uri="{FF2B5EF4-FFF2-40B4-BE49-F238E27FC236}">
                <a16:creationId xmlns:a16="http://schemas.microsoft.com/office/drawing/2014/main" id="{51948C20-42F6-40B2-BD00-F411D735A485}"/>
              </a:ext>
            </a:extLst>
          </p:cNvPr>
          <p:cNvSpPr>
            <a:spLocks xmlns:a="http://schemas.openxmlformats.org/drawingml/2006/main" noGrp="1"/>
          </p:cNvSpPr>
          <p:nvPr/>
        </p:nvSpPr>
        <p:spPr>
          <a:xfrm xmlns:a="http://schemas.openxmlformats.org/drawingml/2006/main">
            <a:off x="6263640" y="274320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2" name="Google Shape;422;p19">
            <a:extLst xmlns:a="http://schemas.openxmlformats.org/drawingml/2006/main">
              <a:ext uri="{FF2B5EF4-FFF2-40B4-BE49-F238E27FC236}">
                <a16:creationId xmlns:a16="http://schemas.microsoft.com/office/drawing/2014/main" id="{9CCF9F76-B2A9-4C9D-84E7-1EF04E550169}"/>
              </a:ext>
            </a:extLst>
          </p:cNvPr>
          <p:cNvSpPr>
            <a:spLocks xmlns:a="http://schemas.openxmlformats.org/drawingml/2006/main" noGrp="1"/>
          </p:cNvSpPr>
          <p:nvPr/>
        </p:nvSpPr>
        <p:spPr>
          <a:xfrm xmlns:a="http://schemas.openxmlformats.org/drawingml/2006/main">
            <a:off x="6446520" y="285292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23" name="Google Shape;423;p19">
            <a:extLst xmlns:a="http://schemas.openxmlformats.org/drawingml/2006/main">
              <a:ext uri="{FF2B5EF4-FFF2-40B4-BE49-F238E27FC236}">
                <a16:creationId xmlns:a16="http://schemas.microsoft.com/office/drawing/2014/main" id="{36BACF9A-ECD9-4E5F-BECB-00AEFBA6F549}"/>
              </a:ext>
            </a:extLst>
          </p:cNvPr>
          <p:cNvSpPr>
            <a:spLocks xmlns:a="http://schemas.openxmlformats.org/drawingml/2006/main" noGrp="1"/>
          </p:cNvSpPr>
          <p:nvPr/>
        </p:nvSpPr>
        <p:spPr>
          <a:xfrm xmlns:a="http://schemas.openxmlformats.org/drawingml/2006/main">
            <a:off x="6784848" y="284378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Only successful tests were saved</a:t>
            </a:r>
          </a:p>
        </p:txBody>
      </p:sp>
      <p:sp>
        <p:nvSpPr>
          <p:cNvPr id="424" name="Google Shape;424;p19">
            <a:extLst xmlns:a="http://schemas.openxmlformats.org/drawingml/2006/main">
              <a:ext uri="{FF2B5EF4-FFF2-40B4-BE49-F238E27FC236}">
                <a16:creationId xmlns:a16="http://schemas.microsoft.com/office/drawing/2014/main" id="{8504840F-84C5-4A18-894B-FBC2A6C840BB}"/>
              </a:ext>
            </a:extLst>
          </p:cNvPr>
          <p:cNvSpPr>
            <a:spLocks xmlns:a="http://schemas.openxmlformats.org/drawingml/2006/main" noGrp="1"/>
          </p:cNvSpPr>
          <p:nvPr/>
        </p:nvSpPr>
        <p:spPr>
          <a:xfrm xmlns:a="http://schemas.openxmlformats.org/drawingml/2006/main">
            <a:off x="6263640" y="370332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5" name="Google Shape;425;p19">
            <a:extLst xmlns:a="http://schemas.openxmlformats.org/drawingml/2006/main">
              <a:ext uri="{FF2B5EF4-FFF2-40B4-BE49-F238E27FC236}">
                <a16:creationId xmlns:a16="http://schemas.microsoft.com/office/drawing/2014/main" id="{67ED8F90-670D-4FAA-BB0D-BDA5139C761F}"/>
              </a:ext>
            </a:extLst>
          </p:cNvPr>
          <p:cNvSpPr>
            <a:spLocks xmlns:a="http://schemas.openxmlformats.org/drawingml/2006/main" noGrp="1"/>
          </p:cNvSpPr>
          <p:nvPr/>
        </p:nvSpPr>
        <p:spPr>
          <a:xfrm xmlns:a="http://schemas.openxmlformats.org/drawingml/2006/main">
            <a:off x="6446520" y="381304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26" name="Google Shape;426;p19">
            <a:extLst xmlns:a="http://schemas.openxmlformats.org/drawingml/2006/main">
              <a:ext uri="{FF2B5EF4-FFF2-40B4-BE49-F238E27FC236}">
                <a16:creationId xmlns:a16="http://schemas.microsoft.com/office/drawing/2014/main" id="{07924B75-6176-41A6-AFB2-79D2729CF7DE}"/>
              </a:ext>
            </a:extLst>
          </p:cNvPr>
          <p:cNvSpPr>
            <a:spLocks xmlns:a="http://schemas.openxmlformats.org/drawingml/2006/main" noGrp="1"/>
          </p:cNvSpPr>
          <p:nvPr/>
        </p:nvSpPr>
        <p:spPr>
          <a:xfrm xmlns:a="http://schemas.openxmlformats.org/drawingml/2006/main">
            <a:off x="6784848" y="380390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Conditions are named three different ways</a:t>
            </a:r>
          </a:p>
        </p:txBody>
      </p:sp>
      <p:sp>
        <p:nvSpPr>
          <p:cNvPr id="427" name="Google Shape;427;p19">
            <a:extLst xmlns:a="http://schemas.openxmlformats.org/drawingml/2006/main">
              <a:ext uri="{FF2B5EF4-FFF2-40B4-BE49-F238E27FC236}">
                <a16:creationId xmlns:a16="http://schemas.microsoft.com/office/drawing/2014/main" id="{39220E5B-130B-4731-AEE8-A39815DACDC7}"/>
              </a:ext>
            </a:extLst>
          </p:cNvPr>
          <p:cNvSpPr>
            <a:spLocks xmlns:a="http://schemas.openxmlformats.org/drawingml/2006/main" noGrp="1"/>
          </p:cNvSpPr>
          <p:nvPr/>
        </p:nvSpPr>
        <p:spPr>
          <a:xfrm xmlns:a="http://schemas.openxmlformats.org/drawingml/2006/main">
            <a:off x="6263640" y="466344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8" name="Google Shape;428;p19">
            <a:extLst xmlns:a="http://schemas.openxmlformats.org/drawingml/2006/main">
              <a:ext uri="{FF2B5EF4-FFF2-40B4-BE49-F238E27FC236}">
                <a16:creationId xmlns:a16="http://schemas.microsoft.com/office/drawing/2014/main" id="{C2E9E515-34F1-49D2-9020-85B84DDBEEBA}"/>
              </a:ext>
            </a:extLst>
          </p:cNvPr>
          <p:cNvSpPr>
            <a:spLocks xmlns:a="http://schemas.openxmlformats.org/drawingml/2006/main" noGrp="1"/>
          </p:cNvSpPr>
          <p:nvPr/>
        </p:nvSpPr>
        <p:spPr>
          <a:xfrm xmlns:a="http://schemas.openxmlformats.org/drawingml/2006/main">
            <a:off x="6446520" y="477316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29" name="Google Shape;429;p19">
            <a:extLst xmlns:a="http://schemas.openxmlformats.org/drawingml/2006/main">
              <a:ext uri="{FF2B5EF4-FFF2-40B4-BE49-F238E27FC236}">
                <a16:creationId xmlns:a16="http://schemas.microsoft.com/office/drawing/2014/main" id="{CA6EC8E7-04A4-4354-9346-64B2FB23050D}"/>
              </a:ext>
            </a:extLst>
          </p:cNvPr>
          <p:cNvSpPr>
            <a:spLocks xmlns:a="http://schemas.openxmlformats.org/drawingml/2006/main" noGrp="1"/>
          </p:cNvSpPr>
          <p:nvPr/>
        </p:nvSpPr>
        <p:spPr>
          <a:xfrm xmlns:a="http://schemas.openxmlformats.org/drawingml/2006/main">
            <a:off x="6784848" y="476402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Questionable data are hidden rather than flagged</a:t>
            </a:r>
          </a:p>
        </p:txBody>
      </p:sp>
    </p:spTree>
    <p:extLst>
      <p:ext uri="{BB962C8B-B14F-4D97-AF65-F5344CB8AC3E}">
        <p14:creationId xmlns:p14="http://schemas.microsoft.com/office/powerpoint/2010/main" val="192899922"/>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456" name="Google Shape;435;p20"/>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457" name="Google Shape;436;p20"/>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437" name="Google Shape;437;p20">
            <a:extLst xmlns:a="http://schemas.openxmlformats.org/drawingml/2006/main">
              <a:ext uri="{FF2B5EF4-FFF2-40B4-BE49-F238E27FC236}">
                <a16:creationId xmlns:a16="http://schemas.microsoft.com/office/drawing/2014/main" id="{22E6453B-0D10-4898-867B-C0B62F6A0B06}"/>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438" name="Google Shape;438;p20">
            <a:extLst xmlns:a="http://schemas.openxmlformats.org/drawingml/2006/main">
              <a:ext uri="{FF2B5EF4-FFF2-40B4-BE49-F238E27FC236}">
                <a16:creationId xmlns:a16="http://schemas.microsoft.com/office/drawing/2014/main" id="{A5E93628-987F-4AA0-A457-F7610E9833C1}"/>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439" name="Google Shape;439;p20">
            <a:extLst xmlns:a="http://schemas.openxmlformats.org/drawingml/2006/main">
              <a:ext uri="{FF2B5EF4-FFF2-40B4-BE49-F238E27FC236}">
                <a16:creationId xmlns:a16="http://schemas.microsoft.com/office/drawing/2014/main" id="{F67DB81E-8D75-4B44-B878-5C982036262E}"/>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440" name="Google Shape;440;p20">
            <a:extLst xmlns:a="http://schemas.openxmlformats.org/drawingml/2006/main">
              <a:ext uri="{FF2B5EF4-FFF2-40B4-BE49-F238E27FC236}">
                <a16:creationId xmlns:a16="http://schemas.microsoft.com/office/drawing/2014/main" id="{6565A085-5587-49DF-9BED-F02D430970EC}"/>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Exit ticket: are you ready for analysis?</a:t>
            </a:r>
          </a:p>
        </p:txBody>
      </p:sp>
      <p:cxnSp>
        <p:nvCxnSpPr>
          <p:cNvPr id="462" name="Google Shape;441;p20"/>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442" name="Google Shape;442;p20">
            <a:extLst xmlns:a="http://schemas.openxmlformats.org/drawingml/2006/main">
              <a:ext uri="{FF2B5EF4-FFF2-40B4-BE49-F238E27FC236}">
                <a16:creationId xmlns:a16="http://schemas.microsoft.com/office/drawing/2014/main" id="{3C067D0D-0C24-4464-AD5F-BAA881955E75}"/>
              </a:ext>
            </a:extLst>
          </p:cNvPr>
          <p:cNvSpPr>
            <a:spLocks xmlns:a="http://schemas.openxmlformats.org/drawingml/2006/main" noGrp="1"/>
          </p:cNvSpPr>
          <p:nvPr/>
        </p:nvSpPr>
        <p:spPr>
          <a:xfrm xmlns:a="http://schemas.openxmlformats.org/drawingml/2006/main">
            <a:off x="777240" y="1783080"/>
            <a:ext cx="10607040" cy="402336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43" name="Google Shape;443;p20">
            <a:extLst xmlns:a="http://schemas.openxmlformats.org/drawingml/2006/main">
              <a:ext uri="{FF2B5EF4-FFF2-40B4-BE49-F238E27FC236}">
                <a16:creationId xmlns:a16="http://schemas.microsoft.com/office/drawing/2014/main" id="{69B346CA-F000-4AFA-8BB7-41CC6682C120}"/>
              </a:ext>
            </a:extLst>
          </p:cNvPr>
          <p:cNvSpPr>
            <a:spLocks xmlns:a="http://schemas.openxmlformats.org/drawingml/2006/main" noGrp="1"/>
          </p:cNvSpPr>
          <p:nvPr/>
        </p:nvSpPr>
        <p:spPr>
          <a:xfrm xmlns:a="http://schemas.openxmlformats.org/drawingml/2006/main">
            <a:off x="1005840" y="201168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44" name="Google Shape;444;p20">
            <a:extLst xmlns:a="http://schemas.openxmlformats.org/drawingml/2006/main">
              <a:ext uri="{FF2B5EF4-FFF2-40B4-BE49-F238E27FC236}">
                <a16:creationId xmlns:a16="http://schemas.microsoft.com/office/drawing/2014/main" id="{341DEA12-F730-4DEE-B3F2-9D769C6DED17}"/>
              </a:ext>
            </a:extLst>
          </p:cNvPr>
          <p:cNvSpPr>
            <a:spLocks xmlns:a="http://schemas.openxmlformats.org/drawingml/2006/main" noGrp="1"/>
          </p:cNvSpPr>
          <p:nvPr/>
        </p:nvSpPr>
        <p:spPr>
          <a:xfrm xmlns:a="http://schemas.openxmlformats.org/drawingml/2006/main">
            <a:off x="1051560" y="206654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445" name="Google Shape;445;p20">
            <a:extLst xmlns:a="http://schemas.openxmlformats.org/drawingml/2006/main">
              <a:ext uri="{FF2B5EF4-FFF2-40B4-BE49-F238E27FC236}">
                <a16:creationId xmlns:a16="http://schemas.microsoft.com/office/drawing/2014/main" id="{966593AF-F860-4D05-BCDB-79CF3DF4F2F4}"/>
              </a:ext>
            </a:extLst>
          </p:cNvPr>
          <p:cNvSpPr>
            <a:spLocks xmlns:a="http://schemas.openxmlformats.org/drawingml/2006/main" noGrp="1"/>
          </p:cNvSpPr>
          <p:nvPr/>
        </p:nvSpPr>
        <p:spPr>
          <a:xfrm xmlns:a="http://schemas.openxmlformats.org/drawingml/2006/main">
            <a:off x="1005840" y="2441448"/>
            <a:ext cx="101498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Before you leave, complete this readiness check.</a:t>
            </a:r>
          </a:p>
        </p:txBody>
      </p:sp>
      <p:sp>
        <p:nvSpPr>
          <p:cNvPr id="446" name="Google Shape;446;p20">
            <a:extLst xmlns:a="http://schemas.openxmlformats.org/drawingml/2006/main">
              <a:ext uri="{FF2B5EF4-FFF2-40B4-BE49-F238E27FC236}">
                <a16:creationId xmlns:a16="http://schemas.microsoft.com/office/drawing/2014/main" id="{9C9E7193-17EB-4AA1-B1ED-A3B1BA892B30}"/>
              </a:ext>
            </a:extLst>
          </p:cNvPr>
          <p:cNvSpPr>
            <a:spLocks xmlns:a="http://schemas.openxmlformats.org/drawingml/2006/main" noGrp="1"/>
          </p:cNvSpPr>
          <p:nvPr/>
        </p:nvSpPr>
        <p:spPr>
          <a:xfrm xmlns:a="http://schemas.openxmlformats.org/drawingml/2006/main">
            <a:off x="1033272" y="2862072"/>
            <a:ext cx="1009497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Day 5 • Student Handout 4: Week 17 Data Audit; Unit 3 Student Handout 18: Unit 3 Readiness for Analysis Review</a:t>
            </a:r>
          </a:p>
        </p:txBody>
      </p:sp>
      <p:sp>
        <p:nvSpPr>
          <p:cNvPr id="447" name="Google Shape;447;p20">
            <a:extLst xmlns:a="http://schemas.openxmlformats.org/drawingml/2006/main">
              <a:ext uri="{FF2B5EF4-FFF2-40B4-BE49-F238E27FC236}">
                <a16:creationId xmlns:a16="http://schemas.microsoft.com/office/drawing/2014/main" id="{AF8365A6-EB12-4DFF-9121-B152CE2BAAC2}"/>
              </a:ext>
            </a:extLst>
          </p:cNvPr>
          <p:cNvSpPr>
            <a:spLocks xmlns:a="http://schemas.openxmlformats.org/drawingml/2006/main" noGrp="1"/>
          </p:cNvSpPr>
          <p:nvPr/>
        </p:nvSpPr>
        <p:spPr>
          <a:xfrm xmlns:a="http://schemas.openxmlformats.org/drawingml/2006/main">
            <a:off x="1097280" y="3319272"/>
            <a:ext cx="9921240" cy="2084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Raw data are preserved and backed up</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Clean data set exists as a separate copy</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Units and labels are clear</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Questionable data are flagged</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Cleaning decisions are documented</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A classmate can explain what your columns mean</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You know what calculation or graph you will try first</a:t>
            </a:r>
          </a:p>
        </p:txBody>
      </p:sp>
      <p:sp>
        <p:nvSpPr>
          <p:cNvPr id="448" name="Google Shape;448;p20">
            <a:extLst xmlns:a="http://schemas.openxmlformats.org/drawingml/2006/main">
              <a:ext uri="{FF2B5EF4-FFF2-40B4-BE49-F238E27FC236}">
                <a16:creationId xmlns:a16="http://schemas.microsoft.com/office/drawing/2014/main" id="{0C443A20-8734-4983-82FA-438ED07AD98E}"/>
              </a:ext>
            </a:extLst>
          </p:cNvPr>
          <p:cNvSpPr>
            <a:spLocks xmlns:a="http://schemas.openxmlformats.org/drawingml/2006/main" noGrp="1"/>
          </p:cNvSpPr>
          <p:nvPr/>
        </p:nvSpPr>
        <p:spPr>
          <a:xfrm xmlns:a="http://schemas.openxmlformats.org/drawingml/2006/main">
            <a:off x="777240" y="5989320"/>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500"/>
              <a:buFont typeface="Arial"/>
              <a:buNone/>
            </a:pPr>
            <a:r>
              <a:rPr sz="1500" b="0" i="0" u="none" cap="none">
                <a:solidFill>
                  <a:srgbClr val="B8B8B8"/>
                </a:solidFill>
                <a:latin typeface="Arial"/>
                <a:ea typeface="Arial"/>
                <a:cs typeface="Arial"/>
              </a:rPr>
              <a:t>Turn in: Raw Data Inventory + Clean Data Set Builder + Decision Log</a:t>
            </a:r>
          </a:p>
        </p:txBody>
      </p:sp>
    </p:spTree>
    <p:extLst>
      <p:ext uri="{BB962C8B-B14F-4D97-AF65-F5344CB8AC3E}">
        <p14:creationId xmlns:p14="http://schemas.microsoft.com/office/powerpoint/2010/main" val="344790256"/>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471" name="Google Shape;454;p21"/>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472" name="Google Shape;455;p21"/>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456" name="Google Shape;456;p21">
            <a:extLst xmlns:a="http://schemas.openxmlformats.org/drawingml/2006/main">
              <a:ext uri="{FF2B5EF4-FFF2-40B4-BE49-F238E27FC236}">
                <a16:creationId xmlns:a16="http://schemas.microsoft.com/office/drawing/2014/main" id="{11796B11-DD01-4B9F-BD19-E977AFB5E9D9}"/>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NEXT DECK</a:t>
            </a:r>
          </a:p>
        </p:txBody>
      </p:sp>
      <p:sp>
        <p:nvSpPr>
          <p:cNvPr id="457" name="Google Shape;457;p21">
            <a:extLst xmlns:a="http://schemas.openxmlformats.org/drawingml/2006/main">
              <a:ext uri="{FF2B5EF4-FFF2-40B4-BE49-F238E27FC236}">
                <a16:creationId xmlns:a16="http://schemas.microsoft.com/office/drawing/2014/main" id="{A9A9804C-0385-4935-A753-732A38AEB2B4}"/>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458" name="Google Shape;458;p21">
            <a:extLst xmlns:a="http://schemas.openxmlformats.org/drawingml/2006/main">
              <a:ext uri="{FF2B5EF4-FFF2-40B4-BE49-F238E27FC236}">
                <a16:creationId xmlns:a16="http://schemas.microsoft.com/office/drawing/2014/main" id="{E6BE7784-55A1-459A-81F8-7D40A5EAA897}"/>
              </a:ext>
            </a:extLst>
          </p:cNvPr>
          <p:cNvSpPr>
            <a:spLocks xmlns:a="http://schemas.openxmlformats.org/drawingml/2006/main" noGrp="1"/>
          </p:cNvSpPr>
          <p:nvPr/>
        </p:nvSpPr>
        <p:spPr>
          <a:xfrm xmlns:a="http://schemas.openxmlformats.org/drawingml/2006/main">
            <a:off x="822960" y="1143000"/>
            <a:ext cx="105156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ED1C24"/>
              </a:buClr>
              <a:buSzPts val="1400"/>
              <a:buFont typeface="Arial"/>
              <a:buNone/>
            </a:pPr>
            <a:r>
              <a:rPr sz="1400" b="1" i="0" u="none" cap="none">
                <a:solidFill>
                  <a:srgbClr val="ED1C24"/>
                </a:solidFill>
                <a:latin typeface="Arial"/>
                <a:ea typeface="Arial"/>
                <a:cs typeface="Arial"/>
              </a:rPr>
              <a:t>NEXT DECK</a:t>
            </a:r>
          </a:p>
        </p:txBody>
      </p:sp>
      <p:sp>
        <p:nvSpPr>
          <p:cNvPr id="459" name="Google Shape;459;p21">
            <a:extLst xmlns:a="http://schemas.openxmlformats.org/drawingml/2006/main">
              <a:ext uri="{FF2B5EF4-FFF2-40B4-BE49-F238E27FC236}">
                <a16:creationId xmlns:a16="http://schemas.microsoft.com/office/drawing/2014/main" id="{A93F1D90-1DBB-4A5B-B41E-D8C1ACA1CB6B}"/>
              </a:ext>
            </a:extLst>
          </p:cNvPr>
          <p:cNvSpPr>
            <a:spLocks xmlns:a="http://schemas.openxmlformats.org/drawingml/2006/main" noGrp="1"/>
          </p:cNvSpPr>
          <p:nvPr/>
        </p:nvSpPr>
        <p:spPr>
          <a:xfrm xmlns:a="http://schemas.openxmlformats.org/drawingml/2006/main">
            <a:off x="1005840" y="2148840"/>
            <a:ext cx="1014984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3400"/>
              <a:buFont typeface="Play"/>
              <a:buNone/>
            </a:pPr>
            <a:r>
              <a:rPr sz="3400" b="1" i="0" u="none" cap="none">
                <a:solidFill>
                  <a:srgbClr val="FFFFFF"/>
                </a:solidFill>
                <a:latin typeface="Play"/>
                <a:ea typeface="Play"/>
                <a:cs typeface="Play"/>
              </a:rPr>
              <a:t>Choosing the Right Data Analysis Method</a:t>
            </a:r>
          </a:p>
        </p:txBody>
      </p:sp>
      <p:cxnSp>
        <p:nvCxnSpPr>
          <p:cNvPr id="477" name="Google Shape;460;p21"/>
          <p:cNvCxnSpPr/>
          <p:nvPr/>
        </p:nvCxnSpPr>
        <p:spPr>
          <a:xfrm xmlns:a="http://schemas.openxmlformats.org/drawingml/2006/main">
            <a:off x="2194560" y="3154680"/>
            <a:ext cx="7772400" cy="0"/>
          </a:xfrm>
          <a:prstGeom xmlns:a="http://schemas.openxmlformats.org/drawingml/2006/main" prst="straightConnector1">
            <a:avLst/>
          </a:prstGeom>
          <a:ln xmlns:a="http://schemas.openxmlformats.org/drawingml/2006/main" w="25400" cap="flat">
            <a:solidFill>
              <a:srgbClr val="ED1C24"/>
            </a:solidFill>
            <a:prstDash val="solid"/>
            <a:round/>
            <a:headEnd type="none" w="sm" len="sm"/>
            <a:tailEnd type="none" w="sm" len="sm"/>
          </a:ln>
        </p:spPr>
      </p:cxnSp>
      <p:sp>
        <p:nvSpPr>
          <p:cNvPr id="461" name="Google Shape;461;p21">
            <a:extLst xmlns:a="http://schemas.openxmlformats.org/drawingml/2006/main">
              <a:ext uri="{FF2B5EF4-FFF2-40B4-BE49-F238E27FC236}">
                <a16:creationId xmlns:a16="http://schemas.microsoft.com/office/drawing/2014/main" id="{A99367A7-27CC-4BF0-BCB2-F63BB604C989}"/>
              </a:ext>
            </a:extLst>
          </p:cNvPr>
          <p:cNvSpPr>
            <a:spLocks xmlns:a="http://schemas.openxmlformats.org/drawingml/2006/main" noGrp="1"/>
          </p:cNvSpPr>
          <p:nvPr/>
        </p:nvSpPr>
        <p:spPr>
          <a:xfrm xmlns:a="http://schemas.openxmlformats.org/drawingml/2006/main">
            <a:off x="1920240" y="3520440"/>
            <a:ext cx="841248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800"/>
              <a:buFont typeface="Arial"/>
              <a:buNone/>
            </a:pPr>
            <a:r>
              <a:rPr sz="1800" b="0" i="0" u="none" cap="none">
                <a:solidFill>
                  <a:srgbClr val="B8B8B8"/>
                </a:solidFill>
                <a:latin typeface="Arial"/>
                <a:ea typeface="Arial"/>
                <a:cs typeface="Arial"/>
              </a:rPr>
              <a:t>Now that the data are protected and organized, we can decide what each data set is actually asking us to calculate, compare, or visualize.</a:t>
            </a:r>
          </a:p>
        </p:txBody>
      </p:sp>
      <p:pic>
        <p:nvPicPr>
          <p:cNvPr id="479" name="Google Shape;462;p21"/>
          <p:cNvPicPr>
            <a:picLocks xmlns:a="http://schemas.openxmlformats.org/drawingml/2006/main" noChangeAspect="1"/>
          </p:cNvPicPr>
          <p:nvPr/>
        </p:nvPicPr>
        <p:blipFill rotWithShape="1">
          <a:blip xmlns:r="http://schemas.openxmlformats.org/officeDocument/2006/relationships" xmlns:a="http://schemas.openxmlformats.org/drawingml/2006/main" r:embed="R8774106ba9b644e5">
            <a:alphaModFix/>
          </a:blip>
          <a:srcRect xmlns:a="http://schemas.openxmlformats.org/drawingml/2006/main" l="0" t="0" r="0" b="0"/>
          <a:stretch xmlns:a="http://schemas.openxmlformats.org/drawingml/2006/main"/>
        </p:blipFill>
        <p:spPr>
          <a:xfrm xmlns:a="http://schemas.openxmlformats.org/drawingml/2006/main">
            <a:off x="4846320" y="4434840"/>
            <a:ext cx="2468880" cy="123444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44736915"/>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2026-07-16T15:42:04.4320000Z</dcterms:created>
  <dcterms:modified xsi:type="dcterms:W3CDTF">2026-07-16T15:42:04.4320000Z</dcterms:modified>
</coreProperties>
</file>